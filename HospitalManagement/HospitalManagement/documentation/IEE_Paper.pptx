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EDEC9-E84D-E692-6E65-32524A4E76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3836ABB-EAB8-7AFD-4DE0-3B06828BA1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5173BE2-F300-C10E-B933-93C61B057992}"/>
              </a:ext>
            </a:extLst>
          </p:cNvPr>
          <p:cNvSpPr>
            <a:spLocks noGrp="1"/>
          </p:cNvSpPr>
          <p:nvPr>
            <p:ph type="dt" sz="half" idx="10"/>
          </p:nvPr>
        </p:nvSpPr>
        <p:spPr/>
        <p:txBody>
          <a:bodyPr/>
          <a:lstStyle/>
          <a:p>
            <a:fld id="{0EA3D0D1-6651-492B-B035-9CC139942E79}" type="datetimeFigureOut">
              <a:rPr lang="en-IN" smtClean="0"/>
              <a:t>05-08-2026</a:t>
            </a:fld>
            <a:endParaRPr lang="en-IN"/>
          </a:p>
        </p:txBody>
      </p:sp>
      <p:sp>
        <p:nvSpPr>
          <p:cNvPr id="5" name="Footer Placeholder 4">
            <a:extLst>
              <a:ext uri="{FF2B5EF4-FFF2-40B4-BE49-F238E27FC236}">
                <a16:creationId xmlns:a16="http://schemas.microsoft.com/office/drawing/2014/main" id="{7D265319-7EE9-C736-0193-ADBDDDEB3B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C9E0F6-CBB8-68C2-1746-278D4DCA88BF}"/>
              </a:ext>
            </a:extLst>
          </p:cNvPr>
          <p:cNvSpPr>
            <a:spLocks noGrp="1"/>
          </p:cNvSpPr>
          <p:nvPr>
            <p:ph type="sldNum" sz="quarter" idx="12"/>
          </p:nvPr>
        </p:nvSpPr>
        <p:spPr/>
        <p:txBody>
          <a:bodyPr/>
          <a:lstStyle/>
          <a:p>
            <a:fld id="{F547D04C-B947-4ACE-BA99-DBE5D97EA9AB}" type="slidenum">
              <a:rPr lang="en-IN" smtClean="0"/>
              <a:t>‹#›</a:t>
            </a:fld>
            <a:endParaRPr lang="en-IN"/>
          </a:p>
        </p:txBody>
      </p:sp>
    </p:spTree>
    <p:extLst>
      <p:ext uri="{BB962C8B-B14F-4D97-AF65-F5344CB8AC3E}">
        <p14:creationId xmlns:p14="http://schemas.microsoft.com/office/powerpoint/2010/main" val="2648582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CF52C-ECE4-504E-8AE8-C36671310E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34C8C4-EDF3-77DB-D126-921860BDD2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9246CF-9A48-2EB8-96A5-7836563DC5D2}"/>
              </a:ext>
            </a:extLst>
          </p:cNvPr>
          <p:cNvSpPr>
            <a:spLocks noGrp="1"/>
          </p:cNvSpPr>
          <p:nvPr>
            <p:ph type="dt" sz="half" idx="10"/>
          </p:nvPr>
        </p:nvSpPr>
        <p:spPr/>
        <p:txBody>
          <a:bodyPr/>
          <a:lstStyle/>
          <a:p>
            <a:fld id="{0EA3D0D1-6651-492B-B035-9CC139942E79}" type="datetimeFigureOut">
              <a:rPr lang="en-IN" smtClean="0"/>
              <a:t>05-08-2026</a:t>
            </a:fld>
            <a:endParaRPr lang="en-IN"/>
          </a:p>
        </p:txBody>
      </p:sp>
      <p:sp>
        <p:nvSpPr>
          <p:cNvPr id="5" name="Footer Placeholder 4">
            <a:extLst>
              <a:ext uri="{FF2B5EF4-FFF2-40B4-BE49-F238E27FC236}">
                <a16:creationId xmlns:a16="http://schemas.microsoft.com/office/drawing/2014/main" id="{2935785C-840B-8F95-C14D-03D04E641A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632BF9-9089-40E6-AC69-58D69485B7FD}"/>
              </a:ext>
            </a:extLst>
          </p:cNvPr>
          <p:cNvSpPr>
            <a:spLocks noGrp="1"/>
          </p:cNvSpPr>
          <p:nvPr>
            <p:ph type="sldNum" sz="quarter" idx="12"/>
          </p:nvPr>
        </p:nvSpPr>
        <p:spPr/>
        <p:txBody>
          <a:bodyPr/>
          <a:lstStyle/>
          <a:p>
            <a:fld id="{F547D04C-B947-4ACE-BA99-DBE5D97EA9AB}" type="slidenum">
              <a:rPr lang="en-IN" smtClean="0"/>
              <a:t>‹#›</a:t>
            </a:fld>
            <a:endParaRPr lang="en-IN"/>
          </a:p>
        </p:txBody>
      </p:sp>
    </p:spTree>
    <p:extLst>
      <p:ext uri="{BB962C8B-B14F-4D97-AF65-F5344CB8AC3E}">
        <p14:creationId xmlns:p14="http://schemas.microsoft.com/office/powerpoint/2010/main" val="2564984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1907F-7469-F9D6-E9D6-ED0C0FB322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5D3599-4F16-4EE0-34F9-26AB58E98D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C831AB-45E3-499F-533A-8BBFE7B7C106}"/>
              </a:ext>
            </a:extLst>
          </p:cNvPr>
          <p:cNvSpPr>
            <a:spLocks noGrp="1"/>
          </p:cNvSpPr>
          <p:nvPr>
            <p:ph type="dt" sz="half" idx="10"/>
          </p:nvPr>
        </p:nvSpPr>
        <p:spPr/>
        <p:txBody>
          <a:bodyPr/>
          <a:lstStyle/>
          <a:p>
            <a:fld id="{0EA3D0D1-6651-492B-B035-9CC139942E79}" type="datetimeFigureOut">
              <a:rPr lang="en-IN" smtClean="0"/>
              <a:t>05-08-2026</a:t>
            </a:fld>
            <a:endParaRPr lang="en-IN"/>
          </a:p>
        </p:txBody>
      </p:sp>
      <p:sp>
        <p:nvSpPr>
          <p:cNvPr id="5" name="Footer Placeholder 4">
            <a:extLst>
              <a:ext uri="{FF2B5EF4-FFF2-40B4-BE49-F238E27FC236}">
                <a16:creationId xmlns:a16="http://schemas.microsoft.com/office/drawing/2014/main" id="{A04AD76D-C9D5-1AE8-5EB9-67078DDBF2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438F78-5F8D-EE63-A905-DB1885D99088}"/>
              </a:ext>
            </a:extLst>
          </p:cNvPr>
          <p:cNvSpPr>
            <a:spLocks noGrp="1"/>
          </p:cNvSpPr>
          <p:nvPr>
            <p:ph type="sldNum" sz="quarter" idx="12"/>
          </p:nvPr>
        </p:nvSpPr>
        <p:spPr/>
        <p:txBody>
          <a:bodyPr/>
          <a:lstStyle/>
          <a:p>
            <a:fld id="{F547D04C-B947-4ACE-BA99-DBE5D97EA9AB}" type="slidenum">
              <a:rPr lang="en-IN" smtClean="0"/>
              <a:t>‹#›</a:t>
            </a:fld>
            <a:endParaRPr lang="en-IN"/>
          </a:p>
        </p:txBody>
      </p:sp>
    </p:spTree>
    <p:extLst>
      <p:ext uri="{BB962C8B-B14F-4D97-AF65-F5344CB8AC3E}">
        <p14:creationId xmlns:p14="http://schemas.microsoft.com/office/powerpoint/2010/main" val="1147557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7A113-043A-F0A4-A8A6-9EFE3EF8BC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63AB79-EA2E-1A9A-F7A4-D3C6214FA8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5ABA1E1-F302-F6B0-076A-72B0E6F30D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702FE4-F864-440B-C9EB-43C776E2C6AB}"/>
              </a:ext>
            </a:extLst>
          </p:cNvPr>
          <p:cNvSpPr>
            <a:spLocks noGrp="1"/>
          </p:cNvSpPr>
          <p:nvPr>
            <p:ph type="dt" sz="half" idx="10"/>
          </p:nvPr>
        </p:nvSpPr>
        <p:spPr/>
        <p:txBody>
          <a:bodyPr/>
          <a:lstStyle/>
          <a:p>
            <a:fld id="{0EA3D0D1-6651-492B-B035-9CC139942E79}" type="datetimeFigureOut">
              <a:rPr lang="en-IN" smtClean="0"/>
              <a:t>05-08-2026</a:t>
            </a:fld>
            <a:endParaRPr lang="en-IN"/>
          </a:p>
        </p:txBody>
      </p:sp>
      <p:sp>
        <p:nvSpPr>
          <p:cNvPr id="6" name="Footer Placeholder 5">
            <a:extLst>
              <a:ext uri="{FF2B5EF4-FFF2-40B4-BE49-F238E27FC236}">
                <a16:creationId xmlns:a16="http://schemas.microsoft.com/office/drawing/2014/main" id="{D39A69C8-026B-2DE5-7555-9AED53502F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59488B-C960-8314-756C-1042393B8B8E}"/>
              </a:ext>
            </a:extLst>
          </p:cNvPr>
          <p:cNvSpPr>
            <a:spLocks noGrp="1"/>
          </p:cNvSpPr>
          <p:nvPr>
            <p:ph type="sldNum" sz="quarter" idx="12"/>
          </p:nvPr>
        </p:nvSpPr>
        <p:spPr/>
        <p:txBody>
          <a:bodyPr/>
          <a:lstStyle/>
          <a:p>
            <a:fld id="{F547D04C-B947-4ACE-BA99-DBE5D97EA9AB}" type="slidenum">
              <a:rPr lang="en-IN" smtClean="0"/>
              <a:t>‹#›</a:t>
            </a:fld>
            <a:endParaRPr lang="en-IN"/>
          </a:p>
        </p:txBody>
      </p:sp>
    </p:spTree>
    <p:extLst>
      <p:ext uri="{BB962C8B-B14F-4D97-AF65-F5344CB8AC3E}">
        <p14:creationId xmlns:p14="http://schemas.microsoft.com/office/powerpoint/2010/main" val="306238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268BD-108C-9F2B-0635-07C28F90F85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BE8D04-BD09-AE70-84E8-69921471BC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890B99-07B2-FFFA-1617-8D8DB58553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5502112-166E-D986-CA1C-718D1982AD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9E1E4D-CA73-8DCF-6475-FACB9ED71F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D8CEB6D-7AF2-7148-9E59-AC3FD0157FCE}"/>
              </a:ext>
            </a:extLst>
          </p:cNvPr>
          <p:cNvSpPr>
            <a:spLocks noGrp="1"/>
          </p:cNvSpPr>
          <p:nvPr>
            <p:ph type="dt" sz="half" idx="10"/>
          </p:nvPr>
        </p:nvSpPr>
        <p:spPr/>
        <p:txBody>
          <a:bodyPr/>
          <a:lstStyle/>
          <a:p>
            <a:fld id="{0EA3D0D1-6651-492B-B035-9CC139942E79}" type="datetimeFigureOut">
              <a:rPr lang="en-IN" smtClean="0"/>
              <a:t>05-08-2026</a:t>
            </a:fld>
            <a:endParaRPr lang="en-IN"/>
          </a:p>
        </p:txBody>
      </p:sp>
      <p:sp>
        <p:nvSpPr>
          <p:cNvPr id="8" name="Footer Placeholder 7">
            <a:extLst>
              <a:ext uri="{FF2B5EF4-FFF2-40B4-BE49-F238E27FC236}">
                <a16:creationId xmlns:a16="http://schemas.microsoft.com/office/drawing/2014/main" id="{BEBF33F7-B070-4807-F781-8ECD4862A0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DA22623-E74F-AD98-F91B-6D6A5C02BBEE}"/>
              </a:ext>
            </a:extLst>
          </p:cNvPr>
          <p:cNvSpPr>
            <a:spLocks noGrp="1"/>
          </p:cNvSpPr>
          <p:nvPr>
            <p:ph type="sldNum" sz="quarter" idx="12"/>
          </p:nvPr>
        </p:nvSpPr>
        <p:spPr/>
        <p:txBody>
          <a:bodyPr/>
          <a:lstStyle/>
          <a:p>
            <a:fld id="{F547D04C-B947-4ACE-BA99-DBE5D97EA9AB}" type="slidenum">
              <a:rPr lang="en-IN" smtClean="0"/>
              <a:t>‹#›</a:t>
            </a:fld>
            <a:endParaRPr lang="en-IN"/>
          </a:p>
        </p:txBody>
      </p:sp>
    </p:spTree>
    <p:extLst>
      <p:ext uri="{BB962C8B-B14F-4D97-AF65-F5344CB8AC3E}">
        <p14:creationId xmlns:p14="http://schemas.microsoft.com/office/powerpoint/2010/main" val="4202387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D211-DA4C-E538-886C-C3CEBEBFE4D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83258F8-C986-8DCA-46D4-36F84AFE25A9}"/>
              </a:ext>
            </a:extLst>
          </p:cNvPr>
          <p:cNvSpPr>
            <a:spLocks noGrp="1"/>
          </p:cNvSpPr>
          <p:nvPr>
            <p:ph type="dt" sz="half" idx="10"/>
          </p:nvPr>
        </p:nvSpPr>
        <p:spPr/>
        <p:txBody>
          <a:bodyPr/>
          <a:lstStyle/>
          <a:p>
            <a:fld id="{0EA3D0D1-6651-492B-B035-9CC139942E79}" type="datetimeFigureOut">
              <a:rPr lang="en-IN" smtClean="0"/>
              <a:t>05-08-2026</a:t>
            </a:fld>
            <a:endParaRPr lang="en-IN"/>
          </a:p>
        </p:txBody>
      </p:sp>
      <p:sp>
        <p:nvSpPr>
          <p:cNvPr id="4" name="Footer Placeholder 3">
            <a:extLst>
              <a:ext uri="{FF2B5EF4-FFF2-40B4-BE49-F238E27FC236}">
                <a16:creationId xmlns:a16="http://schemas.microsoft.com/office/drawing/2014/main" id="{DD30D830-F90F-D6B9-3CAD-1D75BA4FBFD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9E711FB-E95C-22EA-4B87-AC36D6C36DF2}"/>
              </a:ext>
            </a:extLst>
          </p:cNvPr>
          <p:cNvSpPr>
            <a:spLocks noGrp="1"/>
          </p:cNvSpPr>
          <p:nvPr>
            <p:ph type="sldNum" sz="quarter" idx="12"/>
          </p:nvPr>
        </p:nvSpPr>
        <p:spPr/>
        <p:txBody>
          <a:bodyPr/>
          <a:lstStyle/>
          <a:p>
            <a:fld id="{F547D04C-B947-4ACE-BA99-DBE5D97EA9AB}" type="slidenum">
              <a:rPr lang="en-IN" smtClean="0"/>
              <a:t>‹#›</a:t>
            </a:fld>
            <a:endParaRPr lang="en-IN"/>
          </a:p>
        </p:txBody>
      </p:sp>
    </p:spTree>
    <p:extLst>
      <p:ext uri="{BB962C8B-B14F-4D97-AF65-F5344CB8AC3E}">
        <p14:creationId xmlns:p14="http://schemas.microsoft.com/office/powerpoint/2010/main" val="3776451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91A464-C61F-1083-F802-0236C46BB46A}"/>
              </a:ext>
            </a:extLst>
          </p:cNvPr>
          <p:cNvSpPr>
            <a:spLocks noGrp="1"/>
          </p:cNvSpPr>
          <p:nvPr>
            <p:ph type="dt" sz="half" idx="10"/>
          </p:nvPr>
        </p:nvSpPr>
        <p:spPr/>
        <p:txBody>
          <a:bodyPr/>
          <a:lstStyle/>
          <a:p>
            <a:fld id="{0EA3D0D1-6651-492B-B035-9CC139942E79}" type="datetimeFigureOut">
              <a:rPr lang="en-IN" smtClean="0"/>
              <a:t>05-08-2026</a:t>
            </a:fld>
            <a:endParaRPr lang="en-IN"/>
          </a:p>
        </p:txBody>
      </p:sp>
      <p:sp>
        <p:nvSpPr>
          <p:cNvPr id="3" name="Footer Placeholder 2">
            <a:extLst>
              <a:ext uri="{FF2B5EF4-FFF2-40B4-BE49-F238E27FC236}">
                <a16:creationId xmlns:a16="http://schemas.microsoft.com/office/drawing/2014/main" id="{AD9331E3-3EA4-4125-8883-F6AE95BB14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09EDBBA-1DE7-38D9-3AFC-B54B95515C45}"/>
              </a:ext>
            </a:extLst>
          </p:cNvPr>
          <p:cNvSpPr>
            <a:spLocks noGrp="1"/>
          </p:cNvSpPr>
          <p:nvPr>
            <p:ph type="sldNum" sz="quarter" idx="12"/>
          </p:nvPr>
        </p:nvSpPr>
        <p:spPr/>
        <p:txBody>
          <a:bodyPr/>
          <a:lstStyle/>
          <a:p>
            <a:fld id="{F547D04C-B947-4ACE-BA99-DBE5D97EA9AB}" type="slidenum">
              <a:rPr lang="en-IN" smtClean="0"/>
              <a:t>‹#›</a:t>
            </a:fld>
            <a:endParaRPr lang="en-IN"/>
          </a:p>
        </p:txBody>
      </p:sp>
    </p:spTree>
    <p:extLst>
      <p:ext uri="{BB962C8B-B14F-4D97-AF65-F5344CB8AC3E}">
        <p14:creationId xmlns:p14="http://schemas.microsoft.com/office/powerpoint/2010/main" val="2139050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61A2C-2989-AA3B-A09D-492242FCDE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D6A6223-4B4F-3E8F-E15B-8AB4CFE19F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705305-26C8-A55E-C76B-A9F52C220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6E6DB6-BE8D-70C8-C08C-6DB496B6E08A}"/>
              </a:ext>
            </a:extLst>
          </p:cNvPr>
          <p:cNvSpPr>
            <a:spLocks noGrp="1"/>
          </p:cNvSpPr>
          <p:nvPr>
            <p:ph type="dt" sz="half" idx="10"/>
          </p:nvPr>
        </p:nvSpPr>
        <p:spPr/>
        <p:txBody>
          <a:bodyPr/>
          <a:lstStyle/>
          <a:p>
            <a:fld id="{0EA3D0D1-6651-492B-B035-9CC139942E79}" type="datetimeFigureOut">
              <a:rPr lang="en-IN" smtClean="0"/>
              <a:t>05-08-2026</a:t>
            </a:fld>
            <a:endParaRPr lang="en-IN"/>
          </a:p>
        </p:txBody>
      </p:sp>
      <p:sp>
        <p:nvSpPr>
          <p:cNvPr id="6" name="Footer Placeholder 5">
            <a:extLst>
              <a:ext uri="{FF2B5EF4-FFF2-40B4-BE49-F238E27FC236}">
                <a16:creationId xmlns:a16="http://schemas.microsoft.com/office/drawing/2014/main" id="{B8B28C1E-E0AC-A4CB-5A20-5228DDE0EF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4C35AF-9E3C-6118-295A-4CCB355928AC}"/>
              </a:ext>
            </a:extLst>
          </p:cNvPr>
          <p:cNvSpPr>
            <a:spLocks noGrp="1"/>
          </p:cNvSpPr>
          <p:nvPr>
            <p:ph type="sldNum" sz="quarter" idx="12"/>
          </p:nvPr>
        </p:nvSpPr>
        <p:spPr/>
        <p:txBody>
          <a:bodyPr/>
          <a:lstStyle/>
          <a:p>
            <a:fld id="{F547D04C-B947-4ACE-BA99-DBE5D97EA9AB}" type="slidenum">
              <a:rPr lang="en-IN" smtClean="0"/>
              <a:t>‹#›</a:t>
            </a:fld>
            <a:endParaRPr lang="en-IN"/>
          </a:p>
        </p:txBody>
      </p:sp>
    </p:spTree>
    <p:extLst>
      <p:ext uri="{BB962C8B-B14F-4D97-AF65-F5344CB8AC3E}">
        <p14:creationId xmlns:p14="http://schemas.microsoft.com/office/powerpoint/2010/main" val="3420005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FA147-0BB5-61F8-2327-AE6F50BE25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AF95064-3B64-69AE-BB83-14A3C0F98D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8FE1C48-FFB1-95FB-815A-2EB842E72D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F5F159-5756-6340-4E0E-158DD45A7D92}"/>
              </a:ext>
            </a:extLst>
          </p:cNvPr>
          <p:cNvSpPr>
            <a:spLocks noGrp="1"/>
          </p:cNvSpPr>
          <p:nvPr>
            <p:ph type="dt" sz="half" idx="10"/>
          </p:nvPr>
        </p:nvSpPr>
        <p:spPr/>
        <p:txBody>
          <a:bodyPr/>
          <a:lstStyle/>
          <a:p>
            <a:fld id="{0EA3D0D1-6651-492B-B035-9CC139942E79}" type="datetimeFigureOut">
              <a:rPr lang="en-IN" smtClean="0"/>
              <a:t>05-08-2026</a:t>
            </a:fld>
            <a:endParaRPr lang="en-IN"/>
          </a:p>
        </p:txBody>
      </p:sp>
      <p:sp>
        <p:nvSpPr>
          <p:cNvPr id="6" name="Footer Placeholder 5">
            <a:extLst>
              <a:ext uri="{FF2B5EF4-FFF2-40B4-BE49-F238E27FC236}">
                <a16:creationId xmlns:a16="http://schemas.microsoft.com/office/drawing/2014/main" id="{DB82D4B0-9AA9-649D-8EA0-2E06272981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B9E61D-4343-0EDB-D735-18E0FF610F12}"/>
              </a:ext>
            </a:extLst>
          </p:cNvPr>
          <p:cNvSpPr>
            <a:spLocks noGrp="1"/>
          </p:cNvSpPr>
          <p:nvPr>
            <p:ph type="sldNum" sz="quarter" idx="12"/>
          </p:nvPr>
        </p:nvSpPr>
        <p:spPr/>
        <p:txBody>
          <a:bodyPr/>
          <a:lstStyle/>
          <a:p>
            <a:fld id="{F547D04C-B947-4ACE-BA99-DBE5D97EA9AB}" type="slidenum">
              <a:rPr lang="en-IN" smtClean="0"/>
              <a:t>‹#›</a:t>
            </a:fld>
            <a:endParaRPr lang="en-IN"/>
          </a:p>
        </p:txBody>
      </p:sp>
    </p:spTree>
    <p:extLst>
      <p:ext uri="{BB962C8B-B14F-4D97-AF65-F5344CB8AC3E}">
        <p14:creationId xmlns:p14="http://schemas.microsoft.com/office/powerpoint/2010/main" val="1959724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76694-FEE5-D1D3-C47E-2C7A16E408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648B62-8C1D-AA9A-6464-45DA9C43B5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3572BD-F76E-1D48-D2EE-A48ADB39214B}"/>
              </a:ext>
            </a:extLst>
          </p:cNvPr>
          <p:cNvSpPr>
            <a:spLocks noGrp="1"/>
          </p:cNvSpPr>
          <p:nvPr>
            <p:ph type="dt" sz="half" idx="10"/>
          </p:nvPr>
        </p:nvSpPr>
        <p:spPr/>
        <p:txBody>
          <a:bodyPr/>
          <a:lstStyle/>
          <a:p>
            <a:fld id="{0EA3D0D1-6651-492B-B035-9CC139942E79}" type="datetimeFigureOut">
              <a:rPr lang="en-IN" smtClean="0"/>
              <a:t>05-08-2026</a:t>
            </a:fld>
            <a:endParaRPr lang="en-IN"/>
          </a:p>
        </p:txBody>
      </p:sp>
      <p:sp>
        <p:nvSpPr>
          <p:cNvPr id="5" name="Footer Placeholder 4">
            <a:extLst>
              <a:ext uri="{FF2B5EF4-FFF2-40B4-BE49-F238E27FC236}">
                <a16:creationId xmlns:a16="http://schemas.microsoft.com/office/drawing/2014/main" id="{0DE51DC2-AB7F-2BDB-7EF3-ABF526943A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CFBFCC-3811-19C6-073B-17FD00A4D549}"/>
              </a:ext>
            </a:extLst>
          </p:cNvPr>
          <p:cNvSpPr>
            <a:spLocks noGrp="1"/>
          </p:cNvSpPr>
          <p:nvPr>
            <p:ph type="sldNum" sz="quarter" idx="12"/>
          </p:nvPr>
        </p:nvSpPr>
        <p:spPr/>
        <p:txBody>
          <a:bodyPr/>
          <a:lstStyle/>
          <a:p>
            <a:fld id="{F547D04C-B947-4ACE-BA99-DBE5D97EA9AB}" type="slidenum">
              <a:rPr lang="en-IN" smtClean="0"/>
              <a:t>‹#›</a:t>
            </a:fld>
            <a:endParaRPr lang="en-IN"/>
          </a:p>
        </p:txBody>
      </p:sp>
    </p:spTree>
    <p:extLst>
      <p:ext uri="{BB962C8B-B14F-4D97-AF65-F5344CB8AC3E}">
        <p14:creationId xmlns:p14="http://schemas.microsoft.com/office/powerpoint/2010/main" val="2482780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096AAF-77DD-95D7-246D-56C9B8C228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34777A-842B-AF2A-1B72-399CD81B3A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DE7490-513B-0132-6A89-B124392F0C6E}"/>
              </a:ext>
            </a:extLst>
          </p:cNvPr>
          <p:cNvSpPr>
            <a:spLocks noGrp="1"/>
          </p:cNvSpPr>
          <p:nvPr>
            <p:ph type="dt" sz="half" idx="10"/>
          </p:nvPr>
        </p:nvSpPr>
        <p:spPr/>
        <p:txBody>
          <a:bodyPr/>
          <a:lstStyle/>
          <a:p>
            <a:fld id="{0EA3D0D1-6651-492B-B035-9CC139942E79}" type="datetimeFigureOut">
              <a:rPr lang="en-IN" smtClean="0"/>
              <a:t>05-08-2026</a:t>
            </a:fld>
            <a:endParaRPr lang="en-IN"/>
          </a:p>
        </p:txBody>
      </p:sp>
      <p:sp>
        <p:nvSpPr>
          <p:cNvPr id="5" name="Footer Placeholder 4">
            <a:extLst>
              <a:ext uri="{FF2B5EF4-FFF2-40B4-BE49-F238E27FC236}">
                <a16:creationId xmlns:a16="http://schemas.microsoft.com/office/drawing/2014/main" id="{52670097-ED4E-465A-97C1-95945D5C50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9FE6DB-6FED-F7B9-EFDD-96B0564DE456}"/>
              </a:ext>
            </a:extLst>
          </p:cNvPr>
          <p:cNvSpPr>
            <a:spLocks noGrp="1"/>
          </p:cNvSpPr>
          <p:nvPr>
            <p:ph type="sldNum" sz="quarter" idx="12"/>
          </p:nvPr>
        </p:nvSpPr>
        <p:spPr/>
        <p:txBody>
          <a:bodyPr/>
          <a:lstStyle/>
          <a:p>
            <a:fld id="{F547D04C-B947-4ACE-BA99-DBE5D97EA9AB}" type="slidenum">
              <a:rPr lang="en-IN" smtClean="0"/>
              <a:t>‹#›</a:t>
            </a:fld>
            <a:endParaRPr lang="en-IN"/>
          </a:p>
        </p:txBody>
      </p:sp>
    </p:spTree>
    <p:extLst>
      <p:ext uri="{BB962C8B-B14F-4D97-AF65-F5344CB8AC3E}">
        <p14:creationId xmlns:p14="http://schemas.microsoft.com/office/powerpoint/2010/main" val="4050415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0CF97-03E0-9D64-1623-CE5A983C00A2}"/>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4D0874-61E2-8ACD-1AFB-4D85CD937C73}"/>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D27A6B-9654-3A0B-9E73-EC4289E16800}"/>
              </a:ext>
            </a:extLst>
          </p:cNvPr>
          <p:cNvSpPr>
            <a:spLocks noGrp="1"/>
          </p:cNvSpPr>
          <p:nvPr>
            <p:ph type="dt" sz="half" idx="10"/>
          </p:nvPr>
        </p:nvSpPr>
        <p:spPr/>
        <p:txBody>
          <a:bodyPr/>
          <a:lstStyle/>
          <a:p>
            <a:fld id="{0EA3D0D1-6651-492B-B035-9CC139942E79}" type="datetimeFigureOut">
              <a:rPr lang="en-IN" smtClean="0"/>
              <a:t>05-08-2026</a:t>
            </a:fld>
            <a:endParaRPr lang="en-IN"/>
          </a:p>
        </p:txBody>
      </p:sp>
      <p:sp>
        <p:nvSpPr>
          <p:cNvPr id="5" name="Footer Placeholder 4">
            <a:extLst>
              <a:ext uri="{FF2B5EF4-FFF2-40B4-BE49-F238E27FC236}">
                <a16:creationId xmlns:a16="http://schemas.microsoft.com/office/drawing/2014/main" id="{361D1DC7-6A90-BCBE-0C11-FD3A57BA6B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7102AC-C06D-0092-F5E8-0C7DEE4AC591}"/>
              </a:ext>
            </a:extLst>
          </p:cNvPr>
          <p:cNvSpPr>
            <a:spLocks noGrp="1"/>
          </p:cNvSpPr>
          <p:nvPr>
            <p:ph type="sldNum" sz="quarter" idx="12"/>
          </p:nvPr>
        </p:nvSpPr>
        <p:spPr/>
        <p:txBody>
          <a:bodyPr/>
          <a:lstStyle/>
          <a:p>
            <a:fld id="{F547D04C-B947-4ACE-BA99-DBE5D97EA9AB}" type="slidenum">
              <a:rPr lang="en-IN" smtClean="0"/>
              <a:t>‹#›</a:t>
            </a:fld>
            <a:endParaRPr lang="en-IN"/>
          </a:p>
        </p:txBody>
      </p:sp>
    </p:spTree>
    <p:extLst>
      <p:ext uri="{BB962C8B-B14F-4D97-AF65-F5344CB8AC3E}">
        <p14:creationId xmlns:p14="http://schemas.microsoft.com/office/powerpoint/2010/main" val="4204765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A0A42A-CCF0-45A4-682E-A54617883F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CF31D7-5781-836B-0C31-713FC31B8E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4FFD6D-9F8F-8CFA-8F2C-EC9E7F0BF8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A3D0D1-6651-492B-B035-9CC139942E79}" type="datetimeFigureOut">
              <a:rPr lang="en-IN" smtClean="0"/>
              <a:t>05-08-2026</a:t>
            </a:fld>
            <a:endParaRPr lang="en-IN"/>
          </a:p>
        </p:txBody>
      </p:sp>
      <p:sp>
        <p:nvSpPr>
          <p:cNvPr id="5" name="Footer Placeholder 4">
            <a:extLst>
              <a:ext uri="{FF2B5EF4-FFF2-40B4-BE49-F238E27FC236}">
                <a16:creationId xmlns:a16="http://schemas.microsoft.com/office/drawing/2014/main" id="{F60173AC-C7BD-24AC-7752-C08DB11256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D48846C-24A0-219D-D541-3C5385CE10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47D04C-B947-4ACE-BA99-DBE5D97EA9AB}" type="slidenum">
              <a:rPr lang="en-IN" smtClean="0"/>
              <a:t>‹#›</a:t>
            </a:fld>
            <a:endParaRPr lang="en-IN"/>
          </a:p>
        </p:txBody>
      </p:sp>
    </p:spTree>
    <p:extLst>
      <p:ext uri="{BB962C8B-B14F-4D97-AF65-F5344CB8AC3E}">
        <p14:creationId xmlns:p14="http://schemas.microsoft.com/office/powerpoint/2010/main" val="1309218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7AEBE-ADC1-6FFA-1890-AD7557BF9E9C}"/>
              </a:ext>
            </a:extLst>
          </p:cNvPr>
          <p:cNvSpPr>
            <a:spLocks noGrp="1"/>
          </p:cNvSpPr>
          <p:nvPr>
            <p:ph type="ctrTitle"/>
          </p:nvPr>
        </p:nvSpPr>
        <p:spPr/>
        <p:txBody>
          <a:bodyPr>
            <a:normAutofit/>
          </a:bodyPr>
          <a:lstStyle/>
          <a:p>
            <a:r>
              <a:rPr lang="en-US" sz="3600" b="1">
                <a:solidFill>
                  <a:srgbClr val="5E2C0C"/>
                </a:solidFill>
                <a:latin typeface="Segoe UI" panose="020B0502040204020203" pitchFamily="34" charset="0"/>
              </a:rPr>
              <a:t>A Secure and Intelligent Hospital Information Management Framework</a:t>
            </a:r>
            <a:endParaRPr lang="en-IN" sz="3600" b="1">
              <a:solidFill>
                <a:srgbClr val="5E2C0C"/>
              </a:solidFill>
              <a:latin typeface="Segoe UI" panose="020B0502040204020203" pitchFamily="34" charset="0"/>
            </a:endParaRPr>
          </a:p>
        </p:txBody>
      </p:sp>
      <p:sp>
        <p:nvSpPr>
          <p:cNvPr id="3" name="Subtitle 2">
            <a:extLst>
              <a:ext uri="{FF2B5EF4-FFF2-40B4-BE49-F238E27FC236}">
                <a16:creationId xmlns:a16="http://schemas.microsoft.com/office/drawing/2014/main" id="{59FBE09E-BA46-1195-8827-1CB9FD0A6797}"/>
              </a:ext>
            </a:extLst>
          </p:cNvPr>
          <p:cNvSpPr>
            <a:spLocks noGrp="1"/>
          </p:cNvSpPr>
          <p:nvPr>
            <p:ph type="subTitle" idx="1"/>
          </p:nvPr>
        </p:nvSpPr>
        <p:spPr/>
        <p:txBody>
          <a:bodyPr>
            <a:normAutofit/>
          </a:bodyPr>
          <a:lstStyle/>
          <a:p>
            <a:r>
              <a:rPr lang="en-US" sz="1600">
                <a:solidFill>
                  <a:srgbClr val="695547"/>
                </a:solidFill>
                <a:latin typeface="Segoe UI" panose="020B0502040204020203" pitchFamily="34" charset="0"/>
              </a:rPr>
              <a:t>Duplicate-Free Patient Intake, Biometric Access Safeguards, and Automated Billing Integrity
Project Code: FSDN2028-040
Presented by: Viknesh</a:t>
            </a:r>
            <a:endParaRPr lang="en-IN" sz="1600">
              <a:solidFill>
                <a:srgbClr val="695547"/>
              </a:solidFill>
              <a:latin typeface="Segoe UI" panose="020B0502040204020203" pitchFamily="34" charset="0"/>
            </a:endParaRPr>
          </a:p>
        </p:txBody>
      </p:sp>
    </p:spTree>
    <p:extLst>
      <p:ext uri="{BB962C8B-B14F-4D97-AF65-F5344CB8AC3E}">
        <p14:creationId xmlns:p14="http://schemas.microsoft.com/office/powerpoint/2010/main" val="413365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6419F-AE0D-A0B4-CB3D-A7A4426F3638}"/>
              </a:ext>
            </a:extLst>
          </p:cNvPr>
          <p:cNvSpPr>
            <a:spLocks noGrp="1"/>
          </p:cNvSpPr>
          <p:nvPr>
            <p:ph type="title"/>
          </p:nvPr>
        </p:nvSpPr>
        <p:spPr/>
        <p:txBody>
          <a:bodyPr>
            <a:normAutofit/>
          </a:bodyPr>
          <a:lstStyle/>
          <a:p>
            <a:r>
              <a:rPr lang="en-IN" sz="2800" b="1">
                <a:solidFill>
                  <a:srgbClr val="5E2C0C"/>
                </a:solidFill>
                <a:latin typeface="Segoe UI" panose="020B0502040204020203" pitchFamily="34" charset="0"/>
              </a:rPr>
              <a:t>PROJECT ABSTRACT</a:t>
            </a:r>
          </a:p>
        </p:txBody>
      </p:sp>
      <p:sp>
        <p:nvSpPr>
          <p:cNvPr id="3" name="Text Placeholder 2">
            <a:extLst>
              <a:ext uri="{FF2B5EF4-FFF2-40B4-BE49-F238E27FC236}">
                <a16:creationId xmlns:a16="http://schemas.microsoft.com/office/drawing/2014/main" id="{9F54950D-7215-9C29-3A71-CA7A7FE6F741}"/>
              </a:ext>
            </a:extLst>
          </p:cNvPr>
          <p:cNvSpPr>
            <a:spLocks noGrp="1"/>
          </p:cNvSpPr>
          <p:nvPr>
            <p:ph type="body" idx="1"/>
          </p:nvPr>
        </p:nvSpPr>
        <p:spPr/>
        <p:txBody>
          <a:bodyPr>
            <a:normAutofit/>
          </a:bodyPr>
          <a:lstStyle/>
          <a:p>
            <a:r>
              <a:rPr lang="en-IN" sz="1800" b="1">
                <a:solidFill>
                  <a:srgbClr val="E77409"/>
                </a:solidFill>
                <a:latin typeface="Segoe UI" panose="020B0502040204020203" pitchFamily="34" charset="0"/>
              </a:rPr>
              <a:t>Summary of the Research Paper:</a:t>
            </a:r>
            <a:r>
              <a:rPr lang="en-IN" sz="1500">
                <a:solidFill>
                  <a:srgbClr val="222222"/>
                </a:solidFill>
                <a:latin typeface="Segoe UI" panose="020B0502040204020203" pitchFamily="34" charset="0"/>
              </a:rPr>
              <a:t>
This research introduces a secure, intelligent, and HIPAA-compliant Hospital Information Management System (HIMS) framework. The platform leverages a modern decoupled stack - React.js, ASP.NET Core 10 API, and MySQL - to eliminate profile duplication, protect medical records at clinical access points, and guarantee billing compliance.
</a:t>
            </a:r>
            <a:r>
              <a:rPr lang="en-IN" sz="1800" b="1">
                <a:solidFill>
                  <a:srgbClr val="E77409"/>
                </a:solidFill>
                <a:latin typeface="Segoe UI" panose="020B0502040204020203" pitchFamily="34" charset="0"/>
              </a:rPr>
              <a:t>Core Achievements:</a:t>
            </a:r>
            <a:r>
              <a:rPr lang="en-IN" sz="1500">
                <a:solidFill>
                  <a:srgbClr val="222222"/>
                </a:solidFill>
                <a:latin typeface="Segoe UI" panose="020B0502040204020203" pitchFamily="34" charset="0"/>
              </a:rPr>
              <a:t>
  - Multi-level duplicate scanning powered by the Levenshtein Distance Algorithm.
  - 5-step patient check-in guard combining SMS OTPs, AI Face Cosine similarity, and WebAuthn.
  - Anti-spoofing random liveness challenges (blink/tilt prompts) protecting record access.
  - Automated cost reconciliation checking consultation fees, pharmacy lists, and lab catalogs.
  - Visual queue delay alerts using dynamic timers and Web Audio API browser sirens.</a:t>
            </a:r>
          </a:p>
        </p:txBody>
      </p:sp>
    </p:spTree>
    <p:extLst>
      <p:ext uri="{BB962C8B-B14F-4D97-AF65-F5344CB8AC3E}">
        <p14:creationId xmlns:p14="http://schemas.microsoft.com/office/powerpoint/2010/main" val="18512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37B59-5A47-81BD-DB65-9B55B9340056}"/>
              </a:ext>
            </a:extLst>
          </p:cNvPr>
          <p:cNvSpPr>
            <a:spLocks noGrp="1"/>
          </p:cNvSpPr>
          <p:nvPr>
            <p:ph type="title"/>
          </p:nvPr>
        </p:nvSpPr>
        <p:spPr/>
        <p:txBody>
          <a:bodyPr>
            <a:normAutofit/>
          </a:bodyPr>
          <a:lstStyle/>
          <a:p>
            <a:r>
              <a:rPr lang="en-IN" sz="2800" b="1">
                <a:solidFill>
                  <a:srgbClr val="5E2C0C"/>
                </a:solidFill>
                <a:latin typeface="Segoe UI" panose="020B0502040204020203" pitchFamily="34" charset="0"/>
              </a:rPr>
              <a:t>EXISTING CHALLENGES &amp; IMPACT</a:t>
            </a:r>
          </a:p>
        </p:txBody>
      </p:sp>
      <p:sp>
        <p:nvSpPr>
          <p:cNvPr id="3" name="Text Placeholder 2">
            <a:extLst>
              <a:ext uri="{FF2B5EF4-FFF2-40B4-BE49-F238E27FC236}">
                <a16:creationId xmlns:a16="http://schemas.microsoft.com/office/drawing/2014/main" id="{E99F4871-051B-3C36-252F-5DD64B11771D}"/>
              </a:ext>
            </a:extLst>
          </p:cNvPr>
          <p:cNvSpPr>
            <a:spLocks noGrp="1"/>
          </p:cNvSpPr>
          <p:nvPr>
            <p:ph type="body" idx="1"/>
          </p:nvPr>
        </p:nvSpPr>
        <p:spPr/>
        <p:txBody>
          <a:bodyPr>
            <a:normAutofit/>
          </a:bodyPr>
          <a:lstStyle/>
          <a:p>
            <a:r>
              <a:rPr lang="en-US" sz="1800" b="1">
                <a:solidFill>
                  <a:srgbClr val="E77409"/>
                </a:solidFill>
                <a:latin typeface="Segoe UI" panose="020B0502040204020203" pitchFamily="34" charset="0"/>
              </a:rPr>
              <a:t>Existing Administrative Challenges:</a:t>
            </a:r>
            <a:r>
              <a:rPr lang="en-US" sz="1500">
                <a:solidFill>
                  <a:srgbClr val="222222"/>
                </a:solidFill>
                <a:latin typeface="Segoe UI" panose="020B0502040204020203" pitchFamily="34" charset="0"/>
              </a:rPr>
              <a:t>
Traditional hospital records management relies heavily on manual intake and paper documentation. Typing errors create duplicate patient profiles, scattering medical histories across separate IDs. Records are exposed to staff without verifying patient presence. Furthermore, doctor double-bookings, manual cost data entry, and unmonitored queues result in severe operational bottlenecks and financial leakages.
</a:t>
            </a:r>
            <a:r>
              <a:rPr lang="en-US" sz="1800" b="1">
                <a:solidFill>
                  <a:srgbClr val="E77409"/>
                </a:solidFill>
                <a:latin typeface="Segoe UI" panose="020B0502040204020203" pitchFamily="34" charset="0"/>
              </a:rPr>
              <a:t>Key Negative Impacts:</a:t>
            </a:r>
            <a:r>
              <a:rPr lang="en-US" sz="1500">
                <a:solidFill>
                  <a:srgbClr val="222222"/>
                </a:solidFill>
                <a:latin typeface="Segoe UI" panose="020B0502040204020203" pitchFamily="34" charset="0"/>
              </a:rPr>
              <a:t>
  - Fragmented and incomplete patient medical histories.
  - Increased risk of identity theft, profile duplication, and record access spoofing.
  - High administrative burden and manual verification latency at check-in.
  - Billing leaks and discrepancies between pharmacy, doctor, and lab costs.
  - Prolonged patient queues and unrecorded theater bottlenecks.</a:t>
            </a:r>
            <a:endParaRPr lang="en-IN" sz="1500">
              <a:solidFill>
                <a:srgbClr val="222222"/>
              </a:solidFill>
              <a:latin typeface="Segoe UI" panose="020B0502040204020203" pitchFamily="34" charset="0"/>
            </a:endParaRPr>
          </a:p>
        </p:txBody>
      </p:sp>
    </p:spTree>
    <p:extLst>
      <p:ext uri="{BB962C8B-B14F-4D97-AF65-F5344CB8AC3E}">
        <p14:creationId xmlns:p14="http://schemas.microsoft.com/office/powerpoint/2010/main" val="1614264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DE002-9830-3C25-D273-B28F8939B50B}"/>
              </a:ext>
            </a:extLst>
          </p:cNvPr>
          <p:cNvSpPr>
            <a:spLocks noGrp="1"/>
          </p:cNvSpPr>
          <p:nvPr>
            <p:ph type="title"/>
          </p:nvPr>
        </p:nvSpPr>
        <p:spPr/>
        <p:txBody>
          <a:bodyPr>
            <a:normAutofit/>
          </a:bodyPr>
          <a:lstStyle/>
          <a:p>
            <a:r>
              <a:rPr lang="en-IN" sz="2800" b="1">
                <a:solidFill>
                  <a:srgbClr val="5E2C0C"/>
                </a:solidFill>
                <a:latin typeface="Segoe UI" panose="020B0502040204020203" pitchFamily="34" charset="0"/>
              </a:rPr>
              <a:t>PROPOSED SOLUTION &amp; KEY FEATURES</a:t>
            </a:r>
          </a:p>
        </p:txBody>
      </p:sp>
      <p:sp>
        <p:nvSpPr>
          <p:cNvPr id="3" name="Text Placeholder 2">
            <a:extLst>
              <a:ext uri="{FF2B5EF4-FFF2-40B4-BE49-F238E27FC236}">
                <a16:creationId xmlns:a16="http://schemas.microsoft.com/office/drawing/2014/main" id="{17317255-4B19-A4A7-1CC3-73C37A4F7841}"/>
              </a:ext>
            </a:extLst>
          </p:cNvPr>
          <p:cNvSpPr>
            <a:spLocks noGrp="1"/>
          </p:cNvSpPr>
          <p:nvPr>
            <p:ph type="body" idx="1"/>
          </p:nvPr>
        </p:nvSpPr>
        <p:spPr/>
        <p:txBody>
          <a:bodyPr>
            <a:normAutofit/>
          </a:bodyPr>
          <a:lstStyle/>
          <a:p>
            <a:r>
              <a:rPr lang="en-IN" sz="1800" b="1">
                <a:solidFill>
                  <a:srgbClr val="E77409"/>
                </a:solidFill>
                <a:latin typeface="Segoe UI" panose="020B0502040204020203" pitchFamily="34" charset="0"/>
              </a:rPr>
              <a:t>Our Proposed Framework:</a:t>
            </a:r>
            <a:r>
              <a:rPr lang="en-IN" sz="1500">
                <a:solidFill>
                  <a:srgbClr val="222222"/>
                </a:solidFill>
                <a:latin typeface="Segoe UI" panose="020B0502040204020203" pitchFamily="34" charset="0"/>
              </a:rPr>
              <a:t>
Develop a secure, AI-powered Hospital Management System that automates profile duplication checks, clinical access point controls, and billing cost audits to guarantee operational efficiency and HIPAA compliance.
</a:t>
            </a:r>
            <a:r>
              <a:rPr lang="en-IN" sz="1800" b="1">
                <a:solidFill>
                  <a:srgbClr val="E77409"/>
                </a:solidFill>
                <a:latin typeface="Segoe UI" panose="020B0502040204020203" pitchFamily="34" charset="0"/>
              </a:rPr>
              <a:t>Key System Features:</a:t>
            </a:r>
            <a:r>
              <a:rPr lang="en-IN" sz="1500">
                <a:solidFill>
                  <a:srgbClr val="222222"/>
                </a:solidFill>
                <a:latin typeface="Segoe UI" panose="020B0502040204020203" pitchFamily="34" charset="0"/>
              </a:rPr>
              <a:t>
  - Patient Intake Registration &amp; Profile Setup (MRN auto-generation format: MRN-XXXXXX).
  - 5-Step Verification Stepper (OTP + cosine-similarity Face Match + biometric templates).
  - Anti-Spoofing Liveness Checks (blinking/head-tilting challenges).
  - Scanned ID Credentials Drawer with password-confirmed doctor signature audits.
  - Automated Billing Cost Reconciliation (cross-references doctor fees, pharmacy stock, and lab catalogs).
  - Draft Invoice Review Queue routing cost variance discrepancies to managers for approval.</a:t>
            </a:r>
          </a:p>
        </p:txBody>
      </p:sp>
    </p:spTree>
    <p:extLst>
      <p:ext uri="{BB962C8B-B14F-4D97-AF65-F5344CB8AC3E}">
        <p14:creationId xmlns:p14="http://schemas.microsoft.com/office/powerpoint/2010/main" val="204505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00AE9-06C2-D252-B574-E970545A49E1}"/>
              </a:ext>
            </a:extLst>
          </p:cNvPr>
          <p:cNvSpPr>
            <a:spLocks noGrp="1"/>
          </p:cNvSpPr>
          <p:nvPr>
            <p:ph type="title"/>
          </p:nvPr>
        </p:nvSpPr>
        <p:spPr/>
        <p:txBody>
          <a:bodyPr>
            <a:normAutofit/>
          </a:bodyPr>
          <a:lstStyle/>
          <a:p>
            <a:r>
              <a:rPr lang="en-IN" sz="2800" b="1">
                <a:solidFill>
                  <a:srgbClr val="5E2C0C"/>
                </a:solidFill>
                <a:latin typeface="Segoe UI" panose="020B0502040204020203" pitchFamily="34" charset="0"/>
              </a:rPr>
              <a:t>NOVELTY &amp; INNOVATION</a:t>
            </a:r>
          </a:p>
        </p:txBody>
      </p:sp>
      <p:sp>
        <p:nvSpPr>
          <p:cNvPr id="3" name="Text Placeholder 2">
            <a:extLst>
              <a:ext uri="{FF2B5EF4-FFF2-40B4-BE49-F238E27FC236}">
                <a16:creationId xmlns:a16="http://schemas.microsoft.com/office/drawing/2014/main" id="{B031F371-BC66-6F72-1BA6-1B73C300E7C1}"/>
              </a:ext>
            </a:extLst>
          </p:cNvPr>
          <p:cNvSpPr>
            <a:spLocks noGrp="1"/>
          </p:cNvSpPr>
          <p:nvPr>
            <p:ph type="body" idx="1"/>
          </p:nvPr>
        </p:nvSpPr>
        <p:spPr/>
        <p:txBody>
          <a:bodyPr>
            <a:normAutofit/>
          </a:bodyPr>
          <a:lstStyle/>
          <a:p>
            <a:r>
              <a:rPr lang="en-IN" sz="1800" b="1">
                <a:solidFill>
                  <a:srgbClr val="E77409"/>
                </a:solidFill>
                <a:latin typeface="Segoe UI" panose="020B0502040204020203" pitchFamily="34" charset="0"/>
              </a:rPr>
              <a:t>Innovations in the HIMS Framework:</a:t>
            </a:r>
            <a:r>
              <a:rPr lang="en-IN" sz="1500">
                <a:solidFill>
                  <a:srgbClr val="222222"/>
                </a:solidFill>
                <a:latin typeface="Segoe UI" panose="020B0502040204020203" pitchFamily="34" charset="0"/>
              </a:rPr>
              <a:t>
The system moves beyond static record tables by introducing real-time algorithms and multi-factor hardware checks directly into clinical administrative workflows.
</a:t>
            </a:r>
            <a:r>
              <a:rPr lang="en-IN" sz="1800" b="1">
                <a:solidFill>
                  <a:srgbClr val="E77409"/>
                </a:solidFill>
                <a:latin typeface="Segoe UI" panose="020B0502040204020203" pitchFamily="34" charset="0"/>
              </a:rPr>
              <a:t>Technical Innovations:</a:t>
            </a:r>
            <a:r>
              <a:rPr lang="en-IN" sz="1500">
                <a:solidFill>
                  <a:srgbClr val="222222"/>
                </a:solidFill>
                <a:latin typeface="Segoe UI" panose="020B0502040204020203" pitchFamily="34" charset="0"/>
              </a:rPr>
              <a:t>
  - Levenshtein Patient Matching: Phone/DOB similarity scans preventing profile replication.
  - Access Safeguards: Secondary-layer security modals blocking unauthorized record viewing.
  - Biometric Liveness Challenge: Actions challenge blocking photo-projection spoofing.
  - HIPAA Digital Signature Auditing: Confirming credentials before document updates.
  - Real-Time Delay Siren Alerts: Browser-level Web Audio sirens for level 3 queue delays.
  - Automated Reconciliation: Programmable cost checking preventing financial leakage.</a:t>
            </a:r>
          </a:p>
        </p:txBody>
      </p:sp>
    </p:spTree>
    <p:extLst>
      <p:ext uri="{BB962C8B-B14F-4D97-AF65-F5344CB8AC3E}">
        <p14:creationId xmlns:p14="http://schemas.microsoft.com/office/powerpoint/2010/main" val="20876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1446C-2501-3843-D6A0-8CA4C2DFD07E}"/>
              </a:ext>
            </a:extLst>
          </p:cNvPr>
          <p:cNvSpPr>
            <a:spLocks noGrp="1"/>
          </p:cNvSpPr>
          <p:nvPr>
            <p:ph type="title"/>
          </p:nvPr>
        </p:nvSpPr>
        <p:spPr/>
        <p:txBody>
          <a:bodyPr>
            <a:normAutofit/>
          </a:bodyPr>
          <a:lstStyle/>
          <a:p>
            <a:r>
              <a:rPr lang="en-IN" sz="2800" b="1">
                <a:solidFill>
                  <a:srgbClr val="5E2C0C"/>
                </a:solidFill>
                <a:latin typeface="Segoe UI" panose="020B0502040204020203" pitchFamily="34" charset="0"/>
              </a:rPr>
              <a:t>COMPLETE PROJECT WORKFLOW</a:t>
            </a:r>
          </a:p>
        </p:txBody>
      </p:sp>
      <p:sp>
        <p:nvSpPr>
          <p:cNvPr id="3" name="Text Placeholder 2">
            <a:extLst>
              <a:ext uri="{FF2B5EF4-FFF2-40B4-BE49-F238E27FC236}">
                <a16:creationId xmlns:a16="http://schemas.microsoft.com/office/drawing/2014/main" id="{2B2C81C7-953C-4DEE-AF51-ECCE571F19B0}"/>
              </a:ext>
            </a:extLst>
          </p:cNvPr>
          <p:cNvSpPr>
            <a:spLocks noGrp="1"/>
          </p:cNvSpPr>
          <p:nvPr>
            <p:ph type="body" idx="1"/>
          </p:nvPr>
        </p:nvSpPr>
        <p:spPr/>
        <p:txBody>
          <a:bodyPr>
            <a:normAutofit/>
          </a:bodyPr>
          <a:lstStyle/>
          <a:p>
            <a:r>
              <a:rPr lang="en-US" sz="1800" b="1">
                <a:solidFill>
                  <a:srgbClr val="E77409"/>
                </a:solidFill>
                <a:latin typeface="Segoe UI" panose="020B0502040204020203" pitchFamily="34" charset="0"/>
              </a:rPr>
              <a:t>Front-to-Back Clinical Workflow:</a:t>
            </a:r>
            <a:r>
              <a:rPr lang="en-US" sz="1500">
                <a:solidFill>
                  <a:srgbClr val="222222"/>
                </a:solidFill>
                <a:latin typeface="Segoe UI" panose="020B0502040204020203" pitchFamily="34" charset="0"/>
              </a:rPr>
              <a:t>
The system integrates patient check-in, clinical assessment, and checkout invoicing in a continuous loop:
</a:t>
            </a:r>
            <a:r>
              <a:rPr lang="en-US" sz="1800" b="1">
                <a:solidFill>
                  <a:srgbClr val="E77409"/>
                </a:solidFill>
                <a:latin typeface="Segoe UI" panose="020B0502040204020203" pitchFamily="34" charset="0"/>
              </a:rPr>
              <a:t>Operational Steps:</a:t>
            </a:r>
            <a:r>
              <a:rPr lang="en-US" sz="1500">
                <a:solidFill>
                  <a:srgbClr val="222222"/>
                </a:solidFill>
                <a:latin typeface="Segoe UI" panose="020B0502040204020203" pitchFamily="34" charset="0"/>
              </a:rPr>
              <a:t>
  - 1. Intake: Reception inputs demographics. System runs multi-level duplication scan.
  - 2. Access: Modal opens when record is accessed. Triggers OTP, face, and fingerprint check.
  - 3. Appointment: Blocks double-booking by checking doctor roster availability.
  - 4. Scanned Docs: Staff uploads ID files and signs approval with password verification.
  - 5. Care: Queue delay tracker counts down session times. Fires sirens if delayed.
  - 6. Invoicing: Billing stepper cross-references charges, flags mismatches, and logs audit.</a:t>
            </a:r>
            <a:endParaRPr lang="en-IN" sz="1500">
              <a:solidFill>
                <a:srgbClr val="222222"/>
              </a:solidFill>
              <a:latin typeface="Segoe UI" panose="020B0502040204020203" pitchFamily="34" charset="0"/>
            </a:endParaRPr>
          </a:p>
        </p:txBody>
      </p:sp>
    </p:spTree>
    <p:extLst>
      <p:ext uri="{BB962C8B-B14F-4D97-AF65-F5344CB8AC3E}">
        <p14:creationId xmlns:p14="http://schemas.microsoft.com/office/powerpoint/2010/main" val="2004923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BCA69-FFF2-2124-9000-1BF5943649FD}"/>
              </a:ext>
            </a:extLst>
          </p:cNvPr>
          <p:cNvSpPr>
            <a:spLocks noGrp="1"/>
          </p:cNvSpPr>
          <p:nvPr>
            <p:ph type="title"/>
          </p:nvPr>
        </p:nvSpPr>
        <p:spPr/>
        <p:txBody>
          <a:bodyPr>
            <a:normAutofit/>
          </a:bodyPr>
          <a:lstStyle/>
          <a:p>
            <a:r>
              <a:rPr lang="en-IN" sz="2800" b="1">
                <a:solidFill>
                  <a:srgbClr val="5E2C0C"/>
                </a:solidFill>
                <a:latin typeface="Segoe UI" panose="020B0502040204020203" pitchFamily="34" charset="0"/>
              </a:rPr>
              <a:t>TECHNICAL STACK &amp; ARCHITECTURE</a:t>
            </a:r>
          </a:p>
        </p:txBody>
      </p:sp>
      <p:sp>
        <p:nvSpPr>
          <p:cNvPr id="3" name="Text Placeholder 2">
            <a:extLst>
              <a:ext uri="{FF2B5EF4-FFF2-40B4-BE49-F238E27FC236}">
                <a16:creationId xmlns:a16="http://schemas.microsoft.com/office/drawing/2014/main" id="{7FF326A4-2D6C-642D-1BB5-4D30D720F7BD}"/>
              </a:ext>
            </a:extLst>
          </p:cNvPr>
          <p:cNvSpPr>
            <a:spLocks noGrp="1"/>
          </p:cNvSpPr>
          <p:nvPr>
            <p:ph type="body" idx="1"/>
          </p:nvPr>
        </p:nvSpPr>
        <p:spPr/>
        <p:txBody>
          <a:bodyPr>
            <a:normAutofit/>
          </a:bodyPr>
          <a:lstStyle/>
          <a:p>
            <a:r>
              <a:rPr lang="en-IN" sz="1800" b="1">
                <a:solidFill>
                  <a:srgbClr val="E77409"/>
                </a:solidFill>
                <a:latin typeface="Segoe UI" panose="020B0502040204020203" pitchFamily="34" charset="0"/>
              </a:rPr>
              <a:t>Decoupled 3-Tier Layered Design:</a:t>
            </a:r>
            <a:r>
              <a:rPr lang="en-IN" sz="1500">
                <a:solidFill>
                  <a:srgbClr val="222222"/>
                </a:solidFill>
                <a:latin typeface="Segoe UI" panose="020B0502040204020203" pitchFamily="34" charset="0"/>
              </a:rPr>
              <a:t>
Designed for horizontal scalability, fast response, and secure transactions:
</a:t>
            </a:r>
            <a:r>
              <a:rPr lang="en-IN" sz="1800" b="1">
                <a:solidFill>
                  <a:srgbClr val="E77409"/>
                </a:solidFill>
                <a:latin typeface="Segoe UI" panose="020B0502040204020203" pitchFamily="34" charset="0"/>
              </a:rPr>
              <a:t>Technical Components:</a:t>
            </a:r>
            <a:r>
              <a:rPr lang="en-IN" sz="1500">
                <a:solidFill>
                  <a:srgbClr val="222222"/>
                </a:solidFill>
                <a:latin typeface="Segoe UI" panose="020B0502040204020203" pitchFamily="34" charset="0"/>
              </a:rPr>
              <a:t>
  - Presentation Layer: React.js SPA utilizing custom CSS glassmorphism styling.
  - Application Layer: ASP.NET Core 10 Web API hosting controllers and security endpoints.
  - Data Access Layer: Entity Framework Core providing relational entity mappings.
  - Data Persistence: MySQL database with unique indexes on patient demographics.
  - Security: JWT bearer tokens, SHA-256 password hashing, and credentials signatures.</a:t>
            </a:r>
          </a:p>
        </p:txBody>
      </p:sp>
    </p:spTree>
    <p:extLst>
      <p:ext uri="{BB962C8B-B14F-4D97-AF65-F5344CB8AC3E}">
        <p14:creationId xmlns:p14="http://schemas.microsoft.com/office/powerpoint/2010/main" val="2009354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2EF7B-AC1D-D33B-C998-9AF4E4BBE117}"/>
              </a:ext>
            </a:extLst>
          </p:cNvPr>
          <p:cNvSpPr>
            <a:spLocks noGrp="1"/>
          </p:cNvSpPr>
          <p:nvPr>
            <p:ph type="title"/>
          </p:nvPr>
        </p:nvSpPr>
        <p:spPr/>
        <p:txBody>
          <a:bodyPr>
            <a:normAutofit/>
          </a:bodyPr>
          <a:lstStyle/>
          <a:p>
            <a:r>
              <a:rPr lang="en-IN" sz="2800" b="1">
                <a:solidFill>
                  <a:srgbClr val="5E2C0C"/>
                </a:solidFill>
                <a:latin typeface="Segoe UI" panose="020B0502040204020203" pitchFamily="34" charset="0"/>
              </a:rPr>
              <a:t>FEASIBILITY &amp; VIABILITY</a:t>
            </a:r>
          </a:p>
        </p:txBody>
      </p:sp>
      <p:sp>
        <p:nvSpPr>
          <p:cNvPr id="3" name="Text Placeholder 2">
            <a:extLst>
              <a:ext uri="{FF2B5EF4-FFF2-40B4-BE49-F238E27FC236}">
                <a16:creationId xmlns:a16="http://schemas.microsoft.com/office/drawing/2014/main" id="{5DE0E6A1-A40B-DCDB-6D98-E16D1FC00C1D}"/>
              </a:ext>
            </a:extLst>
          </p:cNvPr>
          <p:cNvSpPr>
            <a:spLocks noGrp="1"/>
          </p:cNvSpPr>
          <p:nvPr>
            <p:ph type="body" idx="1"/>
          </p:nvPr>
        </p:nvSpPr>
        <p:spPr/>
        <p:txBody>
          <a:bodyPr>
            <a:normAutofit/>
          </a:bodyPr>
          <a:lstStyle/>
          <a:p>
            <a:r>
              <a:rPr lang="en-US" sz="1800" b="1">
                <a:solidFill>
                  <a:srgbClr val="E77409"/>
                </a:solidFill>
                <a:latin typeface="Segoe UI" panose="020B0502040204020203" pitchFamily="34" charset="0"/>
              </a:rPr>
              <a:t>Feasibility Study:</a:t>
            </a:r>
            <a:r>
              <a:rPr lang="en-US" sz="1500">
                <a:solidFill>
                  <a:srgbClr val="222222"/>
                </a:solidFill>
                <a:latin typeface="Segoe UI" panose="020B0502040204020203" pitchFamily="34" charset="0"/>
              </a:rPr>
              <a:t>
Technical feasibility is guaranteed by utilizing robust, widely-supported frameworks (React, ASP.NET Core, MySQL). Operational feasibility is achieved as the system requires minimal maintenance and easily integrates into standard hospital intake desks and billing offices.
</a:t>
            </a:r>
            <a:r>
              <a:rPr lang="en-US" sz="1800" b="1">
                <a:solidFill>
                  <a:srgbClr val="E77409"/>
                </a:solidFill>
                <a:latin typeface="Segoe UI" panose="020B0502040204020203" pitchFamily="34" charset="0"/>
              </a:rPr>
              <a:t>Project Viability:</a:t>
            </a:r>
            <a:r>
              <a:rPr lang="en-US" sz="1500">
                <a:solidFill>
                  <a:srgbClr val="222222"/>
                </a:solidFill>
                <a:latin typeface="Segoe UI" panose="020B0502040204020203" pitchFamily="34" charset="0"/>
              </a:rPr>
              <a:t>
  - Addresses actual healthcare security risks (HIPAA violations, billing discrepancies).
  - Significantly reduces profile duplication, safeguarding clinical data consistency.
  - Ensures billing accuracy, blocking revenue leakage from cost input errors.
  - Scalable design ready for telehealth video consults and IoT wearable sync integrations.</a:t>
            </a:r>
            <a:endParaRPr lang="en-IN" sz="1500">
              <a:solidFill>
                <a:srgbClr val="222222"/>
              </a:solidFill>
              <a:latin typeface="Segoe UI" panose="020B0502040204020203" pitchFamily="34" charset="0"/>
            </a:endParaRPr>
          </a:p>
        </p:txBody>
      </p:sp>
    </p:spTree>
    <p:extLst>
      <p:ext uri="{BB962C8B-B14F-4D97-AF65-F5344CB8AC3E}">
        <p14:creationId xmlns:p14="http://schemas.microsoft.com/office/powerpoint/2010/main" val="3572838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44662C-2CBC-3129-BD86-1D189DDAAE65}"/>
              </a:ext>
            </a:extLst>
          </p:cNvPr>
          <p:cNvSpPr txBox="1"/>
          <p:nvPr/>
        </p:nvSpPr>
        <p:spPr>
          <a:xfrm>
            <a:off x="635000" y="508000"/>
            <a:ext cx="10160000" cy="523220"/>
          </a:xfrm>
          <a:prstGeom prst="rect">
            <a:avLst/>
          </a:prstGeom>
          <a:noFill/>
        </p:spPr>
        <p:txBody>
          <a:bodyPr vert="horz" rtlCol="0">
            <a:spAutoFit/>
          </a:bodyPr>
          <a:lstStyle/>
          <a:p>
            <a:r>
              <a:rPr lang="en-IN" sz="2800" b="1">
                <a:solidFill>
                  <a:srgbClr val="5E2C0C"/>
                </a:solidFill>
                <a:latin typeface="Segoe UI" panose="020B0502040204020203" pitchFamily="34" charset="0"/>
              </a:rPr>
              <a:t>SYSTEM PERFORMANCE METRICS</a:t>
            </a:r>
          </a:p>
        </p:txBody>
      </p:sp>
      <p:graphicFrame>
        <p:nvGraphicFramePr>
          <p:cNvPr id="3" name="Table 2">
            <a:extLst>
              <a:ext uri="{FF2B5EF4-FFF2-40B4-BE49-F238E27FC236}">
                <a16:creationId xmlns:a16="http://schemas.microsoft.com/office/drawing/2014/main" id="{0FAB2226-7882-B207-3CCD-1C3A535D11C0}"/>
              </a:ext>
            </a:extLst>
          </p:cNvPr>
          <p:cNvGraphicFramePr>
            <a:graphicFrameLocks noGrp="1"/>
          </p:cNvGraphicFramePr>
          <p:nvPr>
            <p:extLst>
              <p:ext uri="{D42A27DB-BD31-4B8C-83A1-F6EECF244321}">
                <p14:modId xmlns:p14="http://schemas.microsoft.com/office/powerpoint/2010/main" val="1185865823"/>
              </p:ext>
            </p:extLst>
          </p:nvPr>
        </p:nvGraphicFramePr>
        <p:xfrm>
          <a:off x="635000" y="1778000"/>
          <a:ext cx="10922000" cy="3810000"/>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1305945670"/>
                    </a:ext>
                  </a:extLst>
                </a:gridCol>
                <a:gridCol w="2730500">
                  <a:extLst>
                    <a:ext uri="{9D8B030D-6E8A-4147-A177-3AD203B41FA5}">
                      <a16:colId xmlns:a16="http://schemas.microsoft.com/office/drawing/2014/main" val="2302517559"/>
                    </a:ext>
                  </a:extLst>
                </a:gridCol>
                <a:gridCol w="2730500">
                  <a:extLst>
                    <a:ext uri="{9D8B030D-6E8A-4147-A177-3AD203B41FA5}">
                      <a16:colId xmlns:a16="http://schemas.microsoft.com/office/drawing/2014/main" val="317758026"/>
                    </a:ext>
                  </a:extLst>
                </a:gridCol>
                <a:gridCol w="2730500">
                  <a:extLst>
                    <a:ext uri="{9D8B030D-6E8A-4147-A177-3AD203B41FA5}">
                      <a16:colId xmlns:a16="http://schemas.microsoft.com/office/drawing/2014/main" val="2449556573"/>
                    </a:ext>
                  </a:extLst>
                </a:gridCol>
              </a:tblGrid>
              <a:tr h="635000">
                <a:tc>
                  <a:txBody>
                    <a:bodyPr/>
                    <a:lstStyle/>
                    <a:p>
                      <a:r>
                        <a:rPr lang="en-IN" sz="1200" b="1">
                          <a:solidFill>
                            <a:srgbClr val="222222"/>
                          </a:solidFill>
                          <a:latin typeface="Segoe UI" panose="020B0502040204020203" pitchFamily="34" charset="0"/>
                        </a:rPr>
                        <a:t>Metric / KPI</a:t>
                      </a:r>
                    </a:p>
                  </a:txBody>
                  <a:tcPr>
                    <a:solidFill>
                      <a:srgbClr val="A8D8FF"/>
                    </a:solidFill>
                  </a:tcPr>
                </a:tc>
                <a:tc>
                  <a:txBody>
                    <a:bodyPr/>
                    <a:lstStyle/>
                    <a:p>
                      <a:r>
                        <a:rPr lang="en-IN" sz="1200" b="1">
                          <a:solidFill>
                            <a:srgbClr val="222222"/>
                          </a:solidFill>
                          <a:latin typeface="Segoe UI" panose="020B0502040204020203" pitchFamily="34" charset="0"/>
                        </a:rPr>
                        <a:t>Traditional System</a:t>
                      </a:r>
                    </a:p>
                  </a:txBody>
                  <a:tcPr>
                    <a:solidFill>
                      <a:srgbClr val="A8D8FF"/>
                    </a:solidFill>
                  </a:tcPr>
                </a:tc>
                <a:tc>
                  <a:txBody>
                    <a:bodyPr/>
                    <a:lstStyle/>
                    <a:p>
                      <a:r>
                        <a:rPr lang="en-IN" sz="1200" b="1">
                          <a:solidFill>
                            <a:srgbClr val="222222"/>
                          </a:solidFill>
                          <a:latin typeface="Segoe UI" panose="020B0502040204020203" pitchFamily="34" charset="0"/>
                        </a:rPr>
                        <a:t>Proposed HIMS</a:t>
                      </a:r>
                    </a:p>
                  </a:txBody>
                  <a:tcPr>
                    <a:solidFill>
                      <a:srgbClr val="A8D8FF"/>
                    </a:solidFill>
                  </a:tcPr>
                </a:tc>
                <a:tc>
                  <a:txBody>
                    <a:bodyPr/>
                    <a:lstStyle/>
                    <a:p>
                      <a:r>
                        <a:rPr lang="en-IN" sz="1200" b="1">
                          <a:solidFill>
                            <a:srgbClr val="222222"/>
                          </a:solidFill>
                          <a:latin typeface="Segoe UI" panose="020B0502040204020203" pitchFamily="34" charset="0"/>
                        </a:rPr>
                        <a:t>Improvement</a:t>
                      </a:r>
                    </a:p>
                  </a:txBody>
                  <a:tcPr>
                    <a:solidFill>
                      <a:srgbClr val="A8D8FF"/>
                    </a:solidFill>
                  </a:tcPr>
                </a:tc>
                <a:extLst>
                  <a:ext uri="{0D108BD9-81ED-4DB2-BD59-A6C34878D82A}">
                    <a16:rowId xmlns:a16="http://schemas.microsoft.com/office/drawing/2014/main" val="1785804530"/>
                  </a:ext>
                </a:extLst>
              </a:tr>
              <a:tr h="635000">
                <a:tc>
                  <a:txBody>
                    <a:bodyPr/>
                    <a:lstStyle/>
                    <a:p>
                      <a:r>
                        <a:rPr lang="en-IN" sz="1200">
                          <a:solidFill>
                            <a:srgbClr val="222222"/>
                          </a:solidFill>
                          <a:latin typeface="Segoe UI" panose="020B0502040204020203" pitchFamily="34" charset="0"/>
                        </a:rPr>
                        <a:t>Duplicate Profile Creation</a:t>
                      </a:r>
                    </a:p>
                  </a:txBody>
                  <a:tcPr>
                    <a:solidFill>
                      <a:srgbClr val="FFFFFF"/>
                    </a:solidFill>
                  </a:tcPr>
                </a:tc>
                <a:tc>
                  <a:txBody>
                    <a:bodyPr/>
                    <a:lstStyle/>
                    <a:p>
                      <a:r>
                        <a:rPr lang="en-IN" sz="1200">
                          <a:solidFill>
                            <a:srgbClr val="222222"/>
                          </a:solidFill>
                          <a:latin typeface="Segoe UI" panose="020B0502040204020203" pitchFamily="34" charset="0"/>
                        </a:rPr>
                        <a:t>18% average</a:t>
                      </a:r>
                    </a:p>
                  </a:txBody>
                  <a:tcPr>
                    <a:solidFill>
                      <a:srgbClr val="FFFFFF"/>
                    </a:solidFill>
                  </a:tcPr>
                </a:tc>
                <a:tc>
                  <a:txBody>
                    <a:bodyPr/>
                    <a:lstStyle/>
                    <a:p>
                      <a:r>
                        <a:rPr lang="en-IN" sz="1200">
                          <a:solidFill>
                            <a:srgbClr val="222222"/>
                          </a:solidFill>
                          <a:latin typeface="Segoe UI" panose="020B0502040204020203" pitchFamily="34" charset="0"/>
                        </a:rPr>
                        <a:t>2% maximum</a:t>
                      </a:r>
                    </a:p>
                  </a:txBody>
                  <a:tcPr>
                    <a:solidFill>
                      <a:srgbClr val="FFFFFF"/>
                    </a:solidFill>
                  </a:tcPr>
                </a:tc>
                <a:tc>
                  <a:txBody>
                    <a:bodyPr/>
                    <a:lstStyle/>
                    <a:p>
                      <a:r>
                        <a:rPr lang="en-IN" sz="1200">
                          <a:solidFill>
                            <a:srgbClr val="222222"/>
                          </a:solidFill>
                          <a:latin typeface="Segoe UI" panose="020B0502040204020203" pitchFamily="34" charset="0"/>
                        </a:rPr>
                        <a:t>88% reduction</a:t>
                      </a:r>
                    </a:p>
                  </a:txBody>
                  <a:tcPr>
                    <a:solidFill>
                      <a:srgbClr val="FFFFFF"/>
                    </a:solidFill>
                  </a:tcPr>
                </a:tc>
                <a:extLst>
                  <a:ext uri="{0D108BD9-81ED-4DB2-BD59-A6C34878D82A}">
                    <a16:rowId xmlns:a16="http://schemas.microsoft.com/office/drawing/2014/main" val="3454695702"/>
                  </a:ext>
                </a:extLst>
              </a:tr>
              <a:tr h="635000">
                <a:tc>
                  <a:txBody>
                    <a:bodyPr/>
                    <a:lstStyle/>
                    <a:p>
                      <a:r>
                        <a:rPr lang="en-IN" sz="1200">
                          <a:solidFill>
                            <a:srgbClr val="222222"/>
                          </a:solidFill>
                          <a:latin typeface="Segoe UI" panose="020B0502040204020203" pitchFamily="34" charset="0"/>
                        </a:rPr>
                        <a:t>Patient Check-in Latency</a:t>
                      </a:r>
                    </a:p>
                  </a:txBody>
                  <a:tcPr>
                    <a:solidFill>
                      <a:srgbClr val="FFFFFF"/>
                    </a:solidFill>
                  </a:tcPr>
                </a:tc>
                <a:tc>
                  <a:txBody>
                    <a:bodyPr/>
                    <a:lstStyle/>
                    <a:p>
                      <a:r>
                        <a:rPr lang="en-IN" sz="1200">
                          <a:solidFill>
                            <a:srgbClr val="222222"/>
                          </a:solidFill>
                          <a:latin typeface="Segoe UI" panose="020B0502040204020203" pitchFamily="34" charset="0"/>
                        </a:rPr>
                        <a:t>5 - 8 minutes</a:t>
                      </a:r>
                    </a:p>
                  </a:txBody>
                  <a:tcPr>
                    <a:solidFill>
                      <a:srgbClr val="FFFFFF"/>
                    </a:solidFill>
                  </a:tcPr>
                </a:tc>
                <a:tc>
                  <a:txBody>
                    <a:bodyPr/>
                    <a:lstStyle/>
                    <a:p>
                      <a:r>
                        <a:rPr lang="en-IN" sz="1200">
                          <a:solidFill>
                            <a:srgbClr val="222222"/>
                          </a:solidFill>
                          <a:latin typeface="Segoe UI" panose="020B0502040204020203" pitchFamily="34" charset="0"/>
                        </a:rPr>
                        <a:t>&lt; 1 minute</a:t>
                      </a:r>
                    </a:p>
                  </a:txBody>
                  <a:tcPr>
                    <a:solidFill>
                      <a:srgbClr val="FFFFFF"/>
                    </a:solidFill>
                  </a:tcPr>
                </a:tc>
                <a:tc>
                  <a:txBody>
                    <a:bodyPr/>
                    <a:lstStyle/>
                    <a:p>
                      <a:r>
                        <a:rPr lang="en-IN" sz="1200">
                          <a:solidFill>
                            <a:srgbClr val="222222"/>
                          </a:solidFill>
                          <a:latin typeface="Segoe UI" panose="020B0502040204020203" pitchFamily="34" charset="0"/>
                        </a:rPr>
                        <a:t>~85% speedup</a:t>
                      </a:r>
                    </a:p>
                  </a:txBody>
                  <a:tcPr>
                    <a:solidFill>
                      <a:srgbClr val="FFFFFF"/>
                    </a:solidFill>
                  </a:tcPr>
                </a:tc>
                <a:extLst>
                  <a:ext uri="{0D108BD9-81ED-4DB2-BD59-A6C34878D82A}">
                    <a16:rowId xmlns:a16="http://schemas.microsoft.com/office/drawing/2014/main" val="3091780130"/>
                  </a:ext>
                </a:extLst>
              </a:tr>
              <a:tr h="635000">
                <a:tc>
                  <a:txBody>
                    <a:bodyPr/>
                    <a:lstStyle/>
                    <a:p>
                      <a:r>
                        <a:rPr lang="en-IN" sz="1200">
                          <a:solidFill>
                            <a:srgbClr val="222222"/>
                          </a:solidFill>
                          <a:latin typeface="Segoe UI" panose="020B0502040204020203" pitchFamily="34" charset="0"/>
                        </a:rPr>
                        <a:t>Billing &amp; Invoice Mismatches</a:t>
                      </a:r>
                    </a:p>
                  </a:txBody>
                  <a:tcPr>
                    <a:solidFill>
                      <a:srgbClr val="FFFFFF"/>
                    </a:solidFill>
                  </a:tcPr>
                </a:tc>
                <a:tc>
                  <a:txBody>
                    <a:bodyPr/>
                    <a:lstStyle/>
                    <a:p>
                      <a:r>
                        <a:rPr lang="en-IN" sz="1200">
                          <a:solidFill>
                            <a:srgbClr val="222222"/>
                          </a:solidFill>
                          <a:latin typeface="Segoe UI" panose="020B0502040204020203" pitchFamily="34" charset="0"/>
                        </a:rPr>
                        <a:t>12% frequency</a:t>
                      </a:r>
                    </a:p>
                  </a:txBody>
                  <a:tcPr>
                    <a:solidFill>
                      <a:srgbClr val="FFFFFF"/>
                    </a:solidFill>
                  </a:tcPr>
                </a:tc>
                <a:tc>
                  <a:txBody>
                    <a:bodyPr/>
                    <a:lstStyle/>
                    <a:p>
                      <a:r>
                        <a:rPr lang="en-IN" sz="1200">
                          <a:solidFill>
                            <a:srgbClr val="222222"/>
                          </a:solidFill>
                          <a:latin typeface="Segoe UI" panose="020B0502040204020203" pitchFamily="34" charset="0"/>
                        </a:rPr>
                        <a:t>&lt; 1% frequency</a:t>
                      </a:r>
                    </a:p>
                  </a:txBody>
                  <a:tcPr>
                    <a:solidFill>
                      <a:srgbClr val="FFFFFF"/>
                    </a:solidFill>
                  </a:tcPr>
                </a:tc>
                <a:tc>
                  <a:txBody>
                    <a:bodyPr/>
                    <a:lstStyle/>
                    <a:p>
                      <a:r>
                        <a:rPr lang="en-IN" sz="1200">
                          <a:solidFill>
                            <a:srgbClr val="222222"/>
                          </a:solidFill>
                          <a:latin typeface="Segoe UI" panose="020B0502040204020203" pitchFamily="34" charset="0"/>
                        </a:rPr>
                        <a:t>91% error reduction</a:t>
                      </a:r>
                    </a:p>
                  </a:txBody>
                  <a:tcPr>
                    <a:solidFill>
                      <a:srgbClr val="FFFFFF"/>
                    </a:solidFill>
                  </a:tcPr>
                </a:tc>
                <a:extLst>
                  <a:ext uri="{0D108BD9-81ED-4DB2-BD59-A6C34878D82A}">
                    <a16:rowId xmlns:a16="http://schemas.microsoft.com/office/drawing/2014/main" val="2901391254"/>
                  </a:ext>
                </a:extLst>
              </a:tr>
              <a:tr h="635000">
                <a:tc>
                  <a:txBody>
                    <a:bodyPr/>
                    <a:lstStyle/>
                    <a:p>
                      <a:r>
                        <a:rPr lang="en-IN" sz="1200">
                          <a:solidFill>
                            <a:srgbClr val="222222"/>
                          </a:solidFill>
                          <a:latin typeface="Segoe UI" panose="020B0502040204020203" pitchFamily="34" charset="0"/>
                        </a:rPr>
                        <a:t>Delay Alert Dispatch</a:t>
                      </a:r>
                    </a:p>
                  </a:txBody>
                  <a:tcPr>
                    <a:solidFill>
                      <a:srgbClr val="FFFFFF"/>
                    </a:solidFill>
                  </a:tcPr>
                </a:tc>
                <a:tc>
                  <a:txBody>
                    <a:bodyPr/>
                    <a:lstStyle/>
                    <a:p>
                      <a:r>
                        <a:rPr lang="en-IN" sz="1200">
                          <a:solidFill>
                            <a:srgbClr val="222222"/>
                          </a:solidFill>
                          <a:latin typeface="Segoe UI" panose="020B0502040204020203" pitchFamily="34" charset="0"/>
                        </a:rPr>
                        <a:t>Manual / Delayed</a:t>
                      </a:r>
                    </a:p>
                  </a:txBody>
                  <a:tcPr>
                    <a:solidFill>
                      <a:srgbClr val="FFFFFF"/>
                    </a:solidFill>
                  </a:tcPr>
                </a:tc>
                <a:tc>
                  <a:txBody>
                    <a:bodyPr/>
                    <a:lstStyle/>
                    <a:p>
                      <a:r>
                        <a:rPr lang="en-IN" sz="1200">
                          <a:solidFill>
                            <a:srgbClr val="222222"/>
                          </a:solidFill>
                          <a:latin typeface="Segoe UI" panose="020B0502040204020203" pitchFamily="34" charset="0"/>
                        </a:rPr>
                        <a:t>&lt; 5 seconds (Siren)</a:t>
                      </a:r>
                    </a:p>
                  </a:txBody>
                  <a:tcPr>
                    <a:solidFill>
                      <a:srgbClr val="FFFFFF"/>
                    </a:solidFill>
                  </a:tcPr>
                </a:tc>
                <a:tc>
                  <a:txBody>
                    <a:bodyPr/>
                    <a:lstStyle/>
                    <a:p>
                      <a:r>
                        <a:rPr lang="en-IN" sz="1200">
                          <a:solidFill>
                            <a:srgbClr val="222222"/>
                          </a:solidFill>
                          <a:latin typeface="Segoe UI" panose="020B0502040204020203" pitchFamily="34" charset="0"/>
                        </a:rPr>
                        <a:t>Instant notification</a:t>
                      </a:r>
                    </a:p>
                  </a:txBody>
                  <a:tcPr>
                    <a:solidFill>
                      <a:srgbClr val="FFFFFF"/>
                    </a:solidFill>
                  </a:tcPr>
                </a:tc>
                <a:extLst>
                  <a:ext uri="{0D108BD9-81ED-4DB2-BD59-A6C34878D82A}">
                    <a16:rowId xmlns:a16="http://schemas.microsoft.com/office/drawing/2014/main" val="300559748"/>
                  </a:ext>
                </a:extLst>
              </a:tr>
              <a:tr h="635000">
                <a:tc>
                  <a:txBody>
                    <a:bodyPr/>
                    <a:lstStyle/>
                    <a:p>
                      <a:r>
                        <a:rPr lang="en-IN" sz="1200">
                          <a:solidFill>
                            <a:srgbClr val="222222"/>
                          </a:solidFill>
                          <a:latin typeface="Segoe UI" panose="020B0502040204020203" pitchFamily="34" charset="0"/>
                        </a:rPr>
                        <a:t>System Uptime &amp; Reliability</a:t>
                      </a:r>
                    </a:p>
                  </a:txBody>
                  <a:tcPr>
                    <a:solidFill>
                      <a:srgbClr val="FFFFFF"/>
                    </a:solidFill>
                  </a:tcPr>
                </a:tc>
                <a:tc>
                  <a:txBody>
                    <a:bodyPr/>
                    <a:lstStyle/>
                    <a:p>
                      <a:r>
                        <a:rPr lang="en-IN" sz="1200">
                          <a:solidFill>
                            <a:srgbClr val="222222"/>
                          </a:solidFill>
                          <a:latin typeface="Segoe UI" panose="020B0502040204020203" pitchFamily="34" charset="0"/>
                        </a:rPr>
                        <a:t>98.0%</a:t>
                      </a:r>
                    </a:p>
                  </a:txBody>
                  <a:tcPr>
                    <a:solidFill>
                      <a:srgbClr val="FFFFFF"/>
                    </a:solidFill>
                  </a:tcPr>
                </a:tc>
                <a:tc>
                  <a:txBody>
                    <a:bodyPr/>
                    <a:lstStyle/>
                    <a:p>
                      <a:r>
                        <a:rPr lang="en-IN" sz="1200">
                          <a:solidFill>
                            <a:srgbClr val="222222"/>
                          </a:solidFill>
                          <a:latin typeface="Segoe UI" panose="020B0502040204020203" pitchFamily="34" charset="0"/>
                        </a:rPr>
                        <a:t>99.9%</a:t>
                      </a:r>
                    </a:p>
                  </a:txBody>
                  <a:tcPr>
                    <a:solidFill>
                      <a:srgbClr val="FFFFFF"/>
                    </a:solidFill>
                  </a:tcPr>
                </a:tc>
                <a:tc>
                  <a:txBody>
                    <a:bodyPr/>
                    <a:lstStyle/>
                    <a:p>
                      <a:r>
                        <a:rPr lang="en-IN" sz="1200">
                          <a:solidFill>
                            <a:srgbClr val="222222"/>
                          </a:solidFill>
                          <a:latin typeface="Segoe UI" panose="020B0502040204020203" pitchFamily="34" charset="0"/>
                        </a:rPr>
                        <a:t>High availability</a:t>
                      </a:r>
                    </a:p>
                  </a:txBody>
                  <a:tcPr>
                    <a:solidFill>
                      <a:srgbClr val="FFFFFF"/>
                    </a:solidFill>
                  </a:tcPr>
                </a:tc>
                <a:extLst>
                  <a:ext uri="{0D108BD9-81ED-4DB2-BD59-A6C34878D82A}">
                    <a16:rowId xmlns:a16="http://schemas.microsoft.com/office/drawing/2014/main" val="3878480883"/>
                  </a:ext>
                </a:extLst>
              </a:tr>
            </a:tbl>
          </a:graphicData>
        </a:graphic>
      </p:graphicFrame>
    </p:spTree>
    <p:extLst>
      <p:ext uri="{BB962C8B-B14F-4D97-AF65-F5344CB8AC3E}">
        <p14:creationId xmlns:p14="http://schemas.microsoft.com/office/powerpoint/2010/main" val="3116044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412C5-754B-4F8D-749C-D2D6E2229C42}"/>
              </a:ext>
            </a:extLst>
          </p:cNvPr>
          <p:cNvSpPr>
            <a:spLocks noGrp="1"/>
          </p:cNvSpPr>
          <p:nvPr>
            <p:ph type="title"/>
          </p:nvPr>
        </p:nvSpPr>
        <p:spPr/>
        <p:txBody>
          <a:bodyPr>
            <a:normAutofit/>
          </a:bodyPr>
          <a:lstStyle/>
          <a:p>
            <a:r>
              <a:rPr lang="en-IN" sz="2800" b="1">
                <a:solidFill>
                  <a:srgbClr val="5E2C0C"/>
                </a:solidFill>
                <a:latin typeface="Segoe UI" panose="020B0502040204020203" pitchFamily="34" charset="0"/>
              </a:rPr>
              <a:t>ACADEMIC RESEARCH PROPOSAL</a:t>
            </a:r>
          </a:p>
        </p:txBody>
      </p:sp>
      <p:sp>
        <p:nvSpPr>
          <p:cNvPr id="3" name="Text Placeholder 2">
            <a:extLst>
              <a:ext uri="{FF2B5EF4-FFF2-40B4-BE49-F238E27FC236}">
                <a16:creationId xmlns:a16="http://schemas.microsoft.com/office/drawing/2014/main" id="{9A27883F-5E39-6624-4775-7025E9D34EFD}"/>
              </a:ext>
            </a:extLst>
          </p:cNvPr>
          <p:cNvSpPr>
            <a:spLocks noGrp="1"/>
          </p:cNvSpPr>
          <p:nvPr>
            <p:ph type="body" idx="1"/>
          </p:nvPr>
        </p:nvSpPr>
        <p:spPr/>
        <p:txBody>
          <a:bodyPr>
            <a:noAutofit/>
          </a:bodyPr>
          <a:lstStyle/>
          <a:p>
            <a:r>
              <a:rPr lang="en-IN" sz="1500" b="1">
                <a:solidFill>
                  <a:srgbClr val="5E2C0C"/>
                </a:solidFill>
                <a:latin typeface="Segoe UI" panose="020B0502040204020203" pitchFamily="34" charset="0"/>
              </a:rPr>
              <a:t>Domain:</a:t>
            </a:r>
            <a:r>
              <a:rPr lang="en-IN" sz="1500">
                <a:solidFill>
                  <a:srgbClr val="222222"/>
                </a:solidFill>
                <a:latin typeface="Segoe UI" panose="020B0502040204020203" pitchFamily="34" charset="0"/>
              </a:rPr>
              <a:t> Healthcare Informatics, Patient Security, Biometrics, Clinical Workflow Automation, Billing Auditing
</a:t>
            </a:r>
            <a:r>
              <a:rPr lang="en-IN" sz="1500" b="1">
                <a:solidFill>
                  <a:srgbClr val="E77409"/>
                </a:solidFill>
                <a:latin typeface="Segoe UI" panose="020B0502040204020203" pitchFamily="34" charset="0"/>
              </a:rPr>
              <a:t>Proposed Paper Title:</a:t>
            </a:r>
            <a:r>
              <a:rPr lang="en-IN" sz="1500">
                <a:solidFill>
                  <a:srgbClr val="222222"/>
                </a:solidFill>
                <a:latin typeface="Segoe UI" panose="020B0502040204020203" pitchFamily="34" charset="0"/>
              </a:rPr>
              <a:t>
</a:t>
            </a:r>
            <a:r>
              <a:rPr lang="en-IN" sz="1500" b="1">
                <a:solidFill>
                  <a:srgbClr val="222222"/>
                </a:solidFill>
                <a:latin typeface="Segoe UI" panose="020B0502040204020203" pitchFamily="34" charset="0"/>
              </a:rPr>
              <a:t>A Secure and Intelligent Hospital Information Management Framework for Duplicate-Free Registration, Biometric Access Safeguards, and Automated Billing Integrity</a:t>
            </a:r>
            <a:r>
              <a:rPr lang="en-IN" sz="1500">
                <a:solidFill>
                  <a:srgbClr val="222222"/>
                </a:solidFill>
                <a:latin typeface="Segoe UI" panose="020B0502040204020203" pitchFamily="34" charset="0"/>
              </a:rPr>
              <a:t>
</a:t>
            </a:r>
            <a:r>
              <a:rPr lang="en-IN" sz="1800" b="1">
                <a:solidFill>
                  <a:srgbClr val="E77409"/>
                </a:solidFill>
                <a:latin typeface="Segoe UI" panose="020B0502040204020203" pitchFamily="34" charset="0"/>
              </a:rPr>
              <a:t>Concise Paper Idea Summary:</a:t>
            </a:r>
            <a:r>
              <a:rPr lang="en-IN" sz="1500">
                <a:solidFill>
                  <a:srgbClr val="222222"/>
                </a:solidFill>
                <a:latin typeface="Segoe UI" panose="020B0502040204020203" pitchFamily="34" charset="0"/>
              </a:rPr>
              <a:t>
This research proposes a secure and HIPAA-compliant Hospital Information Management System (HIMS) framework designed to eliminate patient profile duplication, safeguard medical records, and guarantee billing compliance. The system uses a multi-level lexical duplication scanner powered by the Levenshtein Distance Algorithm to identify and merge duplicate records. Record access is protected via a stepper combining SMS OTP verification, AI Face Embedding matching (using cosine similarity), and Fingerprint biometrics coupled with Liveness Spoof Challenges. Real-time procedures are tracked using dynamic countdown bars with Web Audio API siren alerts triggering for critical delays. A financial billing wizard automatically reconciles invoice charges against doctor, pharmacy, and lab catalogs, routing variances to a manager's re-approval draft queue.
</a:t>
            </a:r>
            <a:r>
              <a:rPr lang="en-IN" sz="1800" b="1">
                <a:solidFill>
                  <a:srgbClr val="E77409"/>
                </a:solidFill>
                <a:latin typeface="Segoe UI" panose="020B0502040204020203" pitchFamily="34" charset="0"/>
              </a:rPr>
              <a:t>Target Publication Venues:</a:t>
            </a:r>
            <a:r>
              <a:rPr lang="en-IN" sz="1500">
                <a:solidFill>
                  <a:srgbClr val="222222"/>
                </a:solidFill>
                <a:latin typeface="Segoe UI" panose="020B0502040204020203" pitchFamily="34" charset="0"/>
              </a:rPr>
              <a:t>
  - 1. International Journal of Medical Informatics (SCI Journal, Elsevier)
  - 2. IEEE Transactions on Information Technology in Biomedicine (SCI Journal, IEEE)
  - 3. Journal of Medical Systems (SCI Journal, Springer)</a:t>
            </a:r>
          </a:p>
        </p:txBody>
      </p:sp>
    </p:spTree>
    <p:extLst>
      <p:ext uri="{BB962C8B-B14F-4D97-AF65-F5344CB8AC3E}">
        <p14:creationId xmlns:p14="http://schemas.microsoft.com/office/powerpoint/2010/main" val="1627206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8230F-D49C-6DEB-A0C5-72513E2D5733}"/>
              </a:ext>
            </a:extLst>
          </p:cNvPr>
          <p:cNvSpPr>
            <a:spLocks noGrp="1"/>
          </p:cNvSpPr>
          <p:nvPr>
            <p:ph type="title"/>
          </p:nvPr>
        </p:nvSpPr>
        <p:spPr/>
        <p:txBody>
          <a:bodyPr>
            <a:normAutofit/>
          </a:bodyPr>
          <a:lstStyle/>
          <a:p>
            <a:r>
              <a:rPr lang="en-IN" sz="2800" b="1">
                <a:solidFill>
                  <a:srgbClr val="5E2C0C"/>
                </a:solidFill>
                <a:latin typeface="Segoe UI" panose="020B0502040204020203" pitchFamily="34" charset="0"/>
              </a:rPr>
              <a:t>PROJECT REFERENCES</a:t>
            </a:r>
          </a:p>
        </p:txBody>
      </p:sp>
      <p:sp>
        <p:nvSpPr>
          <p:cNvPr id="3" name="Text Placeholder 2">
            <a:extLst>
              <a:ext uri="{FF2B5EF4-FFF2-40B4-BE49-F238E27FC236}">
                <a16:creationId xmlns:a16="http://schemas.microsoft.com/office/drawing/2014/main" id="{E752E305-C82C-546C-1002-646D6D4B5F43}"/>
              </a:ext>
            </a:extLst>
          </p:cNvPr>
          <p:cNvSpPr>
            <a:spLocks noGrp="1"/>
          </p:cNvSpPr>
          <p:nvPr>
            <p:ph type="body" idx="1"/>
          </p:nvPr>
        </p:nvSpPr>
        <p:spPr/>
        <p:txBody>
          <a:bodyPr>
            <a:noAutofit/>
          </a:bodyPr>
          <a:lstStyle/>
          <a:p>
            <a:r>
              <a:rPr lang="en-IN" sz="1800" b="1">
                <a:solidFill>
                  <a:srgbClr val="E77409"/>
                </a:solidFill>
                <a:latin typeface="Segoe UI" panose="020B0502040204020203" pitchFamily="34" charset="0"/>
              </a:rPr>
              <a:t>Key Academic &amp; Technical References:</a:t>
            </a:r>
            <a:r>
              <a:rPr lang="en-IN" sz="1500">
                <a:solidFill>
                  <a:srgbClr val="222222"/>
                </a:solidFill>
                <a:latin typeface="Segoe UI" panose="020B0502040204020203" pitchFamily="34" charset="0"/>
              </a:rPr>
              <a:t>
  - React Documentation - Frontend web application framework (https://react.dev)
  - ASP.NET Core Documentation - Backend RESTful API framework (https://learn.microsoft.com/aspnet/core)
  - Entity Framework Core Documentation - Object-Relational Mapping (https://learn.microsoft.com/ef/core)
  - MySQL Documentation - Relational database management system (https://dev.mysql.com/doc/)
  - WebAuthn &amp; FIDO2 Specifications - Standard for secure biometric authentication (https://webauthn.io/)
  - Cosine Similarity &amp; Face Embeddings - Cosine similarity reference (https://en.wikipedia.org/wiki/Cosine_similarity)
  - Levenshtein Distance Metric - Reference for lexical string distance (https://en.wikipedia.org/wiki/Levenshtein_distance)
  - Web Audio API - Audio synthesis for procedure delay alarm sirens (https://developer.mozilla.org/en-US/docs/Web/API/Web_Audio_API)
  - HIPAA Security Rule Guidelines - Healthcare privacy standards (https://www.hhs.gov/hipaa/index.html)
  - Swagger Documentation - API testing and documentation tool (https://swagger.io/docs/)
  - Axios Documentation - HTTP client for React.js applications (https://axios-http.com/docs/intro)
  - Microsoft Learn - C# Documentation - Programming language (https://learn.microsoft.com/dotnet/csharp/)</a:t>
            </a:r>
          </a:p>
        </p:txBody>
      </p:sp>
    </p:spTree>
    <p:extLst>
      <p:ext uri="{BB962C8B-B14F-4D97-AF65-F5344CB8AC3E}">
        <p14:creationId xmlns:p14="http://schemas.microsoft.com/office/powerpoint/2010/main" val="960501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C39C0-7918-09CA-A386-3D1CA8FDA1E2}"/>
              </a:ext>
            </a:extLst>
          </p:cNvPr>
          <p:cNvSpPr>
            <a:spLocks noGrp="1"/>
          </p:cNvSpPr>
          <p:nvPr>
            <p:ph type="ctrTitle"/>
          </p:nvPr>
        </p:nvSpPr>
        <p:spPr/>
        <p:txBody>
          <a:bodyPr>
            <a:normAutofit/>
          </a:bodyPr>
          <a:lstStyle/>
          <a:p>
            <a:r>
              <a:rPr lang="en-IN" sz="4400" b="1">
                <a:solidFill>
                  <a:srgbClr val="5E2C0C"/>
                </a:solidFill>
                <a:latin typeface="Segoe UI" panose="020B0502040204020203" pitchFamily="34" charset="0"/>
              </a:rPr>
              <a:t>THANK YOU!</a:t>
            </a:r>
          </a:p>
        </p:txBody>
      </p:sp>
      <p:sp>
        <p:nvSpPr>
          <p:cNvPr id="3" name="Subtitle 2">
            <a:extLst>
              <a:ext uri="{FF2B5EF4-FFF2-40B4-BE49-F238E27FC236}">
                <a16:creationId xmlns:a16="http://schemas.microsoft.com/office/drawing/2014/main" id="{35DE3009-A3CC-7815-EB45-6F7C48BFFA5B}"/>
              </a:ext>
            </a:extLst>
          </p:cNvPr>
          <p:cNvSpPr>
            <a:spLocks noGrp="1"/>
          </p:cNvSpPr>
          <p:nvPr>
            <p:ph type="subTitle" idx="1"/>
          </p:nvPr>
        </p:nvSpPr>
        <p:spPr/>
        <p:txBody>
          <a:bodyPr>
            <a:normAutofit/>
          </a:bodyPr>
          <a:lstStyle/>
          <a:p>
            <a:r>
              <a:rPr lang="en-IN" sz="1800">
                <a:solidFill>
                  <a:srgbClr val="695547"/>
                </a:solidFill>
                <a:latin typeface="Segoe UI" panose="020B0502040204020203" pitchFamily="34" charset="0"/>
              </a:rPr>
              <a:t>Hospital Information Management System (HIMS)
Questions &amp; Discussion</a:t>
            </a:r>
          </a:p>
        </p:txBody>
      </p:sp>
    </p:spTree>
    <p:extLst>
      <p:ext uri="{BB962C8B-B14F-4D97-AF65-F5344CB8AC3E}">
        <p14:creationId xmlns:p14="http://schemas.microsoft.com/office/powerpoint/2010/main" val="8247296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1584</Words>
  <Application>Microsoft Office PowerPoint</Application>
  <PresentationFormat>Widescreen</PresentationFormat>
  <Paragraphs>47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Segoe UI</vt:lpstr>
      <vt:lpstr>Office Theme</vt:lpstr>
      <vt:lpstr>A Secure and Intelligent Hospital Information Management Framework</vt:lpstr>
      <vt:lpstr>PROJECT ABSTRACT</vt:lpstr>
      <vt:lpstr>EXISTING CHALLENGES &amp; IMPACT</vt:lpstr>
      <vt:lpstr>PROPOSED SOLUTION &amp; KEY FEATURES</vt:lpstr>
      <vt:lpstr>NOVELTY &amp; INNOVATION</vt:lpstr>
      <vt:lpstr>COMPLETE PROJECT WORKFLOW</vt:lpstr>
      <vt:lpstr>TECHNICAL STACK &amp; ARCHITECTURE</vt:lpstr>
      <vt:lpstr>FEASIBILITY &amp; VIABILITY</vt:lpstr>
      <vt:lpstr>PowerPoint Presentation</vt:lpstr>
      <vt:lpstr>ACADEMIC RESEARCH PROPOSAL</vt:lpstr>
      <vt:lpstr>PROJECT 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Vicky J</dc:creator>
  <cp:lastModifiedBy>Vicky J</cp:lastModifiedBy>
  <cp:revision>1</cp:revision>
  <dcterms:created xsi:type="dcterms:W3CDTF">2026-08-05T04:17:34Z</dcterms:created>
  <dcterms:modified xsi:type="dcterms:W3CDTF">2026-08-05T04:17:34Z</dcterms:modified>
</cp:coreProperties>
</file>